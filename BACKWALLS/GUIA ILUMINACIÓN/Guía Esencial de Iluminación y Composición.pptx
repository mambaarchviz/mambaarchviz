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ES"/>
          </a:p>
        </p:txBody>
      </p:sp>
      <p:sp>
        <p:nvSpPr>
          <p:cNvPr id="4" name="Marcador de fecha 3"/>
          <p:cNvSpPr>
            <a:spLocks noGrp="1"/>
          </p:cNvSpPr>
          <p:nvPr>
            <p:ph type="dt" sz="half" idx="10"/>
          </p:nvPr>
        </p:nvSpPr>
        <p:spPr/>
        <p:txBody>
          <a:bodyPr/>
          <a:lstStyle/>
          <a:p>
            <a:fld id="{C56E8FE1-70F0-4A2E-8079-DA5375EB6B92}" type="datetimeFigureOut">
              <a:rPr lang="es-ES" smtClean="0"/>
              <a:t>15/07/2025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60380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C56E8FE1-70F0-4A2E-8079-DA5375EB6B92}" type="datetimeFigureOut">
              <a:rPr lang="es-ES" smtClean="0"/>
              <a:t>15/07/2025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1223633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C56E8FE1-70F0-4A2E-8079-DA5375EB6B92}" type="datetimeFigureOut">
              <a:rPr lang="es-ES" smtClean="0"/>
              <a:t>15/07/2025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1292270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C56E8FE1-70F0-4A2E-8079-DA5375EB6B92}" type="datetimeFigureOut">
              <a:rPr lang="es-ES" smtClean="0"/>
              <a:t>15/07/2025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27828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C56E8FE1-70F0-4A2E-8079-DA5375EB6B92}" type="datetimeFigureOut">
              <a:rPr lang="es-ES" smtClean="0"/>
              <a:t>15/07/2025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1558036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C56E8FE1-70F0-4A2E-8079-DA5375EB6B92}" type="datetimeFigureOut">
              <a:rPr lang="es-ES" smtClean="0"/>
              <a:t>15/07/2025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955942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56E8FE1-70F0-4A2E-8079-DA5375EB6B92}" type="datetimeFigureOut">
              <a:rPr lang="es-ES" smtClean="0"/>
              <a:t>15/07/2025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2056661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C56E8FE1-70F0-4A2E-8079-DA5375EB6B92}" type="datetimeFigureOut">
              <a:rPr lang="es-ES" smtClean="0"/>
              <a:t>15/07/2025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3559291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C56E8FE1-70F0-4A2E-8079-DA5375EB6B92}" type="datetimeFigureOut">
              <a:rPr lang="es-ES" smtClean="0"/>
              <a:t>15/07/2025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486919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C56E8FE1-70F0-4A2E-8079-DA5375EB6B92}" type="datetimeFigureOut">
              <a:rPr lang="es-ES" smtClean="0"/>
              <a:t>15/07/2025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4229778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C56E8FE1-70F0-4A2E-8079-DA5375EB6B92}" type="datetimeFigureOut">
              <a:rPr lang="es-ES" smtClean="0"/>
              <a:t>15/07/2025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98929AC-6C57-4316-A2E1-1522685FB25A}" type="slidenum">
              <a:rPr lang="es-ES" smtClean="0"/>
              <a:t>‹Nº›</a:t>
            </a:fld>
            <a:endParaRPr lang="es-ES"/>
          </a:p>
        </p:txBody>
      </p:sp>
    </p:spTree>
    <p:extLst>
      <p:ext uri="{BB962C8B-B14F-4D97-AF65-F5344CB8AC3E}">
        <p14:creationId xmlns:p14="http://schemas.microsoft.com/office/powerpoint/2010/main" val="2731349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6E8FE1-70F0-4A2E-8079-DA5375EB6B92}" type="datetimeFigureOut">
              <a:rPr lang="es-ES" smtClean="0"/>
              <a:t>15/07/2025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8929AC-6C57-4316-A2E1-1522685FB25A}" type="slidenum">
              <a:rPr lang="es-ES" smtClean="0"/>
              <a:t>‹Nº›</a:t>
            </a:fld>
            <a:endParaRPr lang="es-ES"/>
          </a:p>
        </p:txBody>
      </p:sp>
    </p:spTree>
    <p:extLst>
      <p:ext uri="{BB962C8B-B14F-4D97-AF65-F5344CB8AC3E}">
        <p14:creationId xmlns:p14="http://schemas.microsoft.com/office/powerpoint/2010/main" val="3471978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www.mambaarchviz.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smtClean="0"/>
              <a:t>Guía Esencial de Iluminación y Composición</a:t>
            </a:r>
            <a:endParaRPr lang="es-ES" dirty="0"/>
          </a:p>
        </p:txBody>
      </p:sp>
      <p:sp>
        <p:nvSpPr>
          <p:cNvPr id="3" name="Subtítulo 2"/>
          <p:cNvSpPr>
            <a:spLocks noGrp="1"/>
          </p:cNvSpPr>
          <p:nvPr>
            <p:ph type="subTitle" idx="1"/>
          </p:nvPr>
        </p:nvSpPr>
        <p:spPr>
          <a:xfrm>
            <a:off x="1524000" y="3986529"/>
            <a:ext cx="9144000" cy="560529"/>
          </a:xfrm>
        </p:spPr>
        <p:txBody>
          <a:bodyPr/>
          <a:lstStyle/>
          <a:p>
            <a:r>
              <a:rPr lang="es-ES" dirty="0" smtClean="0"/>
              <a:t>El Arte y la Ciencia de una Presencia Virtual Profesional</a:t>
            </a:r>
            <a:endParaRPr lang="es-ES" dirty="0"/>
          </a:p>
        </p:txBody>
      </p:sp>
      <p:sp>
        <p:nvSpPr>
          <p:cNvPr id="4" name="Subtítulo 2"/>
          <p:cNvSpPr txBox="1">
            <a:spLocks/>
          </p:cNvSpPr>
          <p:nvPr/>
        </p:nvSpPr>
        <p:spPr>
          <a:xfrm>
            <a:off x="4092633" y="10342275"/>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s-ES" dirty="0"/>
          </a:p>
        </p:txBody>
      </p:sp>
      <p:sp>
        <p:nvSpPr>
          <p:cNvPr id="6" name="Rectangle 2"/>
          <p:cNvSpPr>
            <a:spLocks noChangeArrowheads="1"/>
          </p:cNvSpPr>
          <p:nvPr/>
        </p:nvSpPr>
        <p:spPr bwMode="auto">
          <a:xfrm>
            <a:off x="2634018" y="5584155"/>
            <a:ext cx="803398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400" b="0" i="0" u="none" strike="noStrike" cap="none" normalizeH="0" baseline="0" dirty="0" smtClean="0">
                <a:ln>
                  <a:noFill/>
                </a:ln>
                <a:solidFill>
                  <a:schemeClr val="tx1"/>
                </a:solidFill>
                <a:effectLst/>
                <a:latin typeface="Arial" panose="020B0604020202020204" pitchFamily="34" charset="0"/>
              </a:rPr>
              <a:t>Un Documento de Valor para: </a:t>
            </a:r>
            <a:r>
              <a:rPr kumimoji="0" lang="es-ES" altLang="es-ES" sz="1400" b="1" i="0" u="none" strike="noStrike" cap="none" normalizeH="0" baseline="0" dirty="0" smtClean="0">
                <a:ln>
                  <a:noFill/>
                </a:ln>
                <a:solidFill>
                  <a:schemeClr val="tx1"/>
                </a:solidFill>
                <a:effectLst/>
                <a:latin typeface="Arial" panose="020B0604020202020204" pitchFamily="34" charset="0"/>
              </a:rPr>
              <a:t>[Nombre del Cliente]</a:t>
            </a:r>
            <a:endParaRPr kumimoji="0" lang="es-ES" altLang="es-E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400" b="0" i="1" u="none" strike="noStrike" cap="none" normalizeH="0" baseline="0" dirty="0" smtClean="0">
                <a:ln>
                  <a:noFill/>
                </a:ln>
                <a:solidFill>
                  <a:schemeClr val="tx1"/>
                </a:solidFill>
                <a:effectLst/>
                <a:latin typeface="Arial" panose="020B0604020202020204" pitchFamily="34" charset="0"/>
              </a:rPr>
              <a:t>Preparado por Carlos Díaz, Fundador de </a:t>
            </a:r>
            <a:r>
              <a:rPr kumimoji="0" lang="es-ES" altLang="es-ES" sz="1400" b="0" i="1" u="none" strike="noStrike" cap="none" normalizeH="0" baseline="0" dirty="0" err="1" smtClean="0">
                <a:ln>
                  <a:noFill/>
                </a:ln>
                <a:solidFill>
                  <a:schemeClr val="tx1"/>
                </a:solidFill>
                <a:effectLst/>
                <a:latin typeface="Arial" panose="020B0604020202020204" pitchFamily="34" charset="0"/>
              </a:rPr>
              <a:t>Mamba</a:t>
            </a:r>
            <a:r>
              <a:rPr kumimoji="0" lang="es-ES" altLang="es-ES" sz="1400" b="0" i="1" u="none" strike="noStrike" cap="none" normalizeH="0" baseline="0" dirty="0" smtClean="0">
                <a:ln>
                  <a:noFill/>
                </a:ln>
                <a:solidFill>
                  <a:schemeClr val="tx1"/>
                </a:solidFill>
                <a:effectLst/>
                <a:latin typeface="Arial" panose="020B0604020202020204" pitchFamily="34" charset="0"/>
              </a:rPr>
              <a:t> </a:t>
            </a:r>
            <a:r>
              <a:rPr kumimoji="0" lang="es-ES" altLang="es-ES" sz="1400" b="0" i="1" u="none" strike="noStrike" cap="none" normalizeH="0" baseline="0" dirty="0" err="1" smtClean="0">
                <a:ln>
                  <a:noFill/>
                </a:ln>
                <a:solidFill>
                  <a:schemeClr val="tx1"/>
                </a:solidFill>
                <a:effectLst/>
                <a:latin typeface="Arial" panose="020B0604020202020204" pitchFamily="34" charset="0"/>
              </a:rPr>
              <a:t>Archviz</a:t>
            </a:r>
            <a:endParaRPr kumimoji="0" lang="es-ES" altLang="es-E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smtClean="0">
                <a:ln>
                  <a:noFill/>
                </a:ln>
                <a:solidFill>
                  <a:schemeClr val="tx1"/>
                </a:solidFill>
                <a:effectLst/>
                <a:latin typeface="Arial Unicode MS"/>
              </a:rPr>
              <a:t>www.mambaarchviz.com</a:t>
            </a: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46299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4571" y="365125"/>
            <a:ext cx="5622877" cy="6308630"/>
          </a:xfrm>
        </p:spPr>
        <p:txBody>
          <a:bodyPr>
            <a:normAutofit/>
          </a:bodyPr>
          <a:lstStyle/>
          <a:p>
            <a:r>
              <a:rPr lang="es-ES" sz="1800" b="1" dirty="0" smtClean="0">
                <a:latin typeface="+mn-lt"/>
              </a:rPr>
              <a:t>Bienvenido/a, </a:t>
            </a:r>
            <a:r>
              <a:rPr lang="es-ES" sz="1800" dirty="0" smtClean="0">
                <a:latin typeface="+mn-lt"/>
              </a:rPr>
              <a:t/>
            </a:r>
            <a:br>
              <a:rPr lang="es-ES" sz="1800" dirty="0" smtClean="0">
                <a:latin typeface="+mn-lt"/>
              </a:rPr>
            </a:br>
            <a:r>
              <a:rPr lang="es-ES" sz="1800" dirty="0" smtClean="0">
                <a:latin typeface="+mn-lt"/>
              </a:rPr>
              <a:t>En </a:t>
            </a:r>
            <a:r>
              <a:rPr lang="es-ES" sz="1800" dirty="0" err="1" smtClean="0">
                <a:latin typeface="+mn-lt"/>
              </a:rPr>
              <a:t>Mamba</a:t>
            </a:r>
            <a:r>
              <a:rPr lang="es-ES" sz="1800" dirty="0" smtClean="0">
                <a:latin typeface="+mn-lt"/>
              </a:rPr>
              <a:t> </a:t>
            </a:r>
            <a:r>
              <a:rPr lang="es-ES" sz="1800" dirty="0" err="1" smtClean="0">
                <a:latin typeface="+mn-lt"/>
              </a:rPr>
              <a:t>Archviz</a:t>
            </a:r>
            <a:r>
              <a:rPr lang="es-ES" sz="1800" dirty="0" smtClean="0">
                <a:latin typeface="+mn-lt"/>
              </a:rPr>
              <a:t>, creemos que tu entorno virtual es mucho más que un simple fondo; es el escenario donde tu marca personal y tu autoridad profesional cobran vida. Has invertido en crear contenido de gran valor, y esta guía está diseñada para darte las herramientas y el conocimiento para que tu calidad visual esté a la misma altura.</a:t>
            </a:r>
            <a:br>
              <a:rPr lang="es-ES" sz="1800" dirty="0" smtClean="0">
                <a:latin typeface="+mn-lt"/>
              </a:rPr>
            </a:br>
            <a:r>
              <a:rPr lang="es-ES" sz="1800" dirty="0" smtClean="0">
                <a:latin typeface="+mn-lt"/>
              </a:rPr>
              <a:t/>
            </a:r>
            <a:br>
              <a:rPr lang="es-ES" sz="1800" dirty="0" smtClean="0">
                <a:latin typeface="+mn-lt"/>
              </a:rPr>
            </a:br>
            <a:r>
              <a:rPr lang="es-ES" sz="1800" dirty="0" smtClean="0">
                <a:latin typeface="+mn-lt"/>
              </a:rPr>
              <a:t>Dominar los fundamentos de la composición y la iluminación es lo que separa una imagen amateur de una profesional. Son los dos pilares que conseguirán que te integres de forma realista en tu futuro set virtual y que captures la atención de tu audiencia desde el primer segundo.</a:t>
            </a:r>
            <a:br>
              <a:rPr lang="es-ES" sz="1800" dirty="0" smtClean="0">
                <a:latin typeface="+mn-lt"/>
              </a:rPr>
            </a:br>
            <a:r>
              <a:rPr lang="es-ES" sz="1800" dirty="0" smtClean="0">
                <a:latin typeface="+mn-lt"/>
              </a:rPr>
              <a:t/>
            </a:r>
            <a:br>
              <a:rPr lang="es-ES" sz="1800" dirty="0" smtClean="0">
                <a:latin typeface="+mn-lt"/>
              </a:rPr>
            </a:br>
            <a:r>
              <a:rPr lang="es-ES" sz="1800" dirty="0" smtClean="0">
                <a:latin typeface="+mn-lt"/>
              </a:rPr>
              <a:t>En las siguientes páginas, desglosaremos estos conceptos de una forma clara y aplicable. No necesitas ser un director de fotografía para lograr resultados excelentes. Solo necesitas entender las reglas del juego.</a:t>
            </a:r>
            <a:br>
              <a:rPr lang="es-ES" sz="1800" dirty="0" smtClean="0">
                <a:latin typeface="+mn-lt"/>
              </a:rPr>
            </a:br>
            <a:r>
              <a:rPr lang="es-ES" sz="1800" dirty="0" smtClean="0">
                <a:latin typeface="+mn-lt"/>
              </a:rPr>
              <a:t/>
            </a:r>
            <a:br>
              <a:rPr lang="es-ES" sz="1800" dirty="0" smtClean="0">
                <a:latin typeface="+mn-lt"/>
              </a:rPr>
            </a:br>
            <a:r>
              <a:rPr lang="es-ES" sz="1800" dirty="0" smtClean="0">
                <a:latin typeface="+mn-lt"/>
              </a:rPr>
              <a:t>Empecemos a construir tu presencia visual.</a:t>
            </a:r>
            <a:endParaRPr lang="es-ES" sz="1800" dirty="0">
              <a:latin typeface="+mn-lt"/>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3964" t="18229" b="7437"/>
          <a:stretch/>
        </p:blipFill>
        <p:spPr>
          <a:xfrm>
            <a:off x="6114196" y="1335797"/>
            <a:ext cx="6079708" cy="3753135"/>
          </a:xfrm>
        </p:spPr>
      </p:pic>
    </p:spTree>
    <p:extLst>
      <p:ext uri="{BB962C8B-B14F-4D97-AF65-F5344CB8AC3E}">
        <p14:creationId xmlns:p14="http://schemas.microsoft.com/office/powerpoint/2010/main" val="2453485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smtClean="0">
                <a:solidFill>
                  <a:schemeClr val="bg2">
                    <a:lumMod val="75000"/>
                  </a:schemeClr>
                </a:solidFill>
              </a:rPr>
              <a:t>1. COMPOSICIÓN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6116" t="20773" r="6905" b="13045"/>
          <a:stretch/>
        </p:blipFill>
        <p:spPr>
          <a:xfrm>
            <a:off x="6133408" y="1600749"/>
            <a:ext cx="5843640" cy="2784143"/>
          </a:xfrm>
        </p:spPr>
      </p:pic>
      <p:sp>
        <p:nvSpPr>
          <p:cNvPr id="5" name="Título 1"/>
          <p:cNvSpPr txBox="1">
            <a:spLocks/>
          </p:cNvSpPr>
          <p:nvPr/>
        </p:nvSpPr>
        <p:spPr>
          <a:xfrm>
            <a:off x="602775" y="668737"/>
            <a:ext cx="5622879" cy="54863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Arial" panose="020B0604020202020204" pitchFamily="34" charset="0"/>
              <a:buChar char="•"/>
            </a:pPr>
            <a:r>
              <a:rPr lang="es-ES" sz="1800" b="1" dirty="0" err="1" smtClean="0">
                <a:latin typeface="+mn-lt"/>
              </a:rPr>
              <a:t>Headroom</a:t>
            </a:r>
            <a:r>
              <a:rPr lang="es-ES" sz="1800" dirty="0" smtClean="0">
                <a:latin typeface="+mn-lt"/>
              </a:rPr>
              <a:t> (Espacio Superior): Es el espacio entre la parte superior de tu cabeza y el borde superior del encuadre.</a:t>
            </a:r>
          </a:p>
          <a:p>
            <a:pPr marL="285750" indent="-285750">
              <a:buFont typeface="Arial" panose="020B0604020202020204" pitchFamily="34" charset="0"/>
              <a:buChar char="•"/>
            </a:pPr>
            <a:endParaRPr lang="es-ES" sz="1800" dirty="0" smtClean="0">
              <a:latin typeface="+mn-lt"/>
            </a:endParaRPr>
          </a:p>
          <a:p>
            <a:pPr marL="285750" indent="-285750">
              <a:buFont typeface="Arial" panose="020B0604020202020204" pitchFamily="34" charset="0"/>
              <a:buChar char="•"/>
            </a:pPr>
            <a:endParaRPr lang="es-ES" sz="1800" dirty="0">
              <a:latin typeface="+mn-lt"/>
            </a:endParaRPr>
          </a:p>
          <a:p>
            <a:pPr marL="285750" indent="-285750">
              <a:buFont typeface="Arial" panose="020B0604020202020204" pitchFamily="34" charset="0"/>
              <a:buChar char="•"/>
            </a:pPr>
            <a:endParaRPr lang="es-ES" sz="1800" dirty="0">
              <a:latin typeface="+mn-lt"/>
            </a:endParaRPr>
          </a:p>
          <a:p>
            <a:pPr marL="285750" indent="-285750">
              <a:buFont typeface="Arial" panose="020B0604020202020204" pitchFamily="34" charset="0"/>
              <a:buChar char="•"/>
            </a:pPr>
            <a:endParaRPr lang="es-ES" sz="1800" dirty="0" smtClean="0">
              <a:latin typeface="+mn-lt"/>
            </a:endParaRPr>
          </a:p>
          <a:p>
            <a:pPr marL="285750" indent="-285750">
              <a:buFont typeface="Arial" panose="020B0604020202020204" pitchFamily="34" charset="0"/>
              <a:buChar char="•"/>
            </a:pPr>
            <a:endParaRPr lang="es-ES" sz="1800" dirty="0">
              <a:latin typeface="+mn-lt"/>
            </a:endParaRPr>
          </a:p>
          <a:p>
            <a:pPr marL="285750" indent="-285750">
              <a:buFont typeface="Arial" panose="020B0604020202020204" pitchFamily="34" charset="0"/>
              <a:buChar char="•"/>
            </a:pPr>
            <a:endParaRPr lang="es-ES" sz="1800" dirty="0" smtClean="0">
              <a:latin typeface="+mn-lt"/>
            </a:endParaRPr>
          </a:p>
          <a:p>
            <a:pPr marL="285750" indent="-285750">
              <a:buFont typeface="Arial" panose="020B0604020202020204" pitchFamily="34" charset="0"/>
              <a:buChar char="•"/>
            </a:pPr>
            <a:endParaRPr lang="es-ES" sz="1800" dirty="0" smtClean="0">
              <a:latin typeface="+mn-lt"/>
            </a:endParaRPr>
          </a:p>
          <a:p>
            <a:endParaRPr lang="es-ES" sz="1800" dirty="0">
              <a:latin typeface="+mn-lt"/>
            </a:endParaRPr>
          </a:p>
          <a:p>
            <a:endParaRPr lang="es-ES" sz="1800" dirty="0">
              <a:latin typeface="+mn-lt"/>
            </a:endParaRPr>
          </a:p>
          <a:p>
            <a:pPr marL="285750" indent="-285750">
              <a:buFont typeface="Arial" panose="020B0604020202020204" pitchFamily="34" charset="0"/>
              <a:buChar char="•"/>
            </a:pPr>
            <a:r>
              <a:rPr lang="es-ES" sz="1800" b="1" dirty="0" smtClean="0">
                <a:latin typeface="+mn-lt"/>
              </a:rPr>
              <a:t>Lead </a:t>
            </a:r>
            <a:r>
              <a:rPr lang="es-ES" sz="1800" b="1" dirty="0" err="1" smtClean="0">
                <a:latin typeface="+mn-lt"/>
              </a:rPr>
              <a:t>Room</a:t>
            </a:r>
            <a:r>
              <a:rPr lang="es-ES" sz="1800" b="1" dirty="0" smtClean="0">
                <a:latin typeface="+mn-lt"/>
              </a:rPr>
              <a:t> / </a:t>
            </a:r>
            <a:r>
              <a:rPr lang="es-ES" sz="1800" b="1" dirty="0" err="1" smtClean="0">
                <a:latin typeface="+mn-lt"/>
              </a:rPr>
              <a:t>Nose</a:t>
            </a:r>
            <a:r>
              <a:rPr lang="es-ES" sz="1800" b="1" dirty="0" smtClean="0">
                <a:latin typeface="+mn-lt"/>
              </a:rPr>
              <a:t> </a:t>
            </a:r>
            <a:r>
              <a:rPr lang="es-ES" sz="1800" b="1" dirty="0" err="1" smtClean="0">
                <a:latin typeface="+mn-lt"/>
              </a:rPr>
              <a:t>Room</a:t>
            </a:r>
            <a:r>
              <a:rPr lang="es-ES" sz="1800" b="1" dirty="0" smtClean="0">
                <a:latin typeface="+mn-lt"/>
              </a:rPr>
              <a:t> </a:t>
            </a:r>
            <a:r>
              <a:rPr lang="es-ES" sz="1800" dirty="0" smtClean="0">
                <a:latin typeface="+mn-lt"/>
              </a:rPr>
              <a:t>(Espacio de Mirada): Si estás ligeramente de perfil, debes dejar más espacio en la dirección en la que miras. Esto le da a tu mirada un "lugar a donde ir". Si miras hacia el borde del encuadre, la composición se siente tensa y claustrofóbica.</a:t>
            </a:r>
            <a:endParaRPr lang="es-ES" sz="1800" dirty="0">
              <a:latin typeface="+mn-lt"/>
            </a:endParaRPr>
          </a:p>
        </p:txBody>
      </p:sp>
      <p:sp>
        <p:nvSpPr>
          <p:cNvPr id="7" name="Título 1"/>
          <p:cNvSpPr txBox="1">
            <a:spLocks/>
          </p:cNvSpPr>
          <p:nvPr/>
        </p:nvSpPr>
        <p:spPr>
          <a:xfrm>
            <a:off x="602775" y="5650169"/>
            <a:ext cx="11354937" cy="70740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dirty="0" smtClean="0">
                <a:latin typeface="+mn-lt"/>
              </a:rPr>
              <a:t/>
            </a:r>
            <a:br>
              <a:rPr lang="es-ES" sz="1800" dirty="0" smtClean="0">
                <a:latin typeface="+mn-lt"/>
              </a:rPr>
            </a:br>
            <a:r>
              <a:rPr lang="es-ES" sz="1800" dirty="0" smtClean="0">
                <a:latin typeface="+mn-lt"/>
              </a:rPr>
              <a:t>Por Qué Funciona: Un uso correcto de los márgenes crea una sensación de confort y equilibrio. Guía al espectador de forma subconsciente y hace que la experiencia visual sea más placentera.</a:t>
            </a:r>
            <a:endParaRPr lang="es-ES" sz="1800" dirty="0">
              <a:latin typeface="+mn-lt"/>
            </a:endParaRPr>
          </a:p>
        </p:txBody>
      </p:sp>
      <p:sp>
        <p:nvSpPr>
          <p:cNvPr id="8" name="Título 1"/>
          <p:cNvSpPr txBox="1">
            <a:spLocks/>
          </p:cNvSpPr>
          <p:nvPr/>
        </p:nvSpPr>
        <p:spPr>
          <a:xfrm>
            <a:off x="1078174" y="1241946"/>
            <a:ext cx="4790358" cy="33164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1"/>
            <a:endParaRPr lang="es-ES" sz="1800" dirty="0" smtClean="0"/>
          </a:p>
          <a:p>
            <a:pPr marL="0" lvl="1">
              <a:lnSpc>
                <a:spcPct val="90000"/>
              </a:lnSpc>
              <a:spcBef>
                <a:spcPct val="0"/>
              </a:spcBef>
            </a:pPr>
            <a:r>
              <a:rPr lang="es-ES" dirty="0"/>
              <a:t>Demasiado: Da la sensación de que te estás "hundiendo" en la imagen</a:t>
            </a:r>
            <a:r>
              <a:rPr lang="es-ES" dirty="0" smtClean="0"/>
              <a:t>.</a:t>
            </a:r>
          </a:p>
          <a:p>
            <a:pPr marL="0" lvl="1">
              <a:lnSpc>
                <a:spcPct val="90000"/>
              </a:lnSpc>
              <a:spcBef>
                <a:spcPct val="0"/>
              </a:spcBef>
            </a:pPr>
            <a:endParaRPr lang="es-ES" dirty="0" smtClean="0"/>
          </a:p>
          <a:p>
            <a:pPr marL="0" lvl="1">
              <a:lnSpc>
                <a:spcPct val="90000"/>
              </a:lnSpc>
              <a:spcBef>
                <a:spcPct val="0"/>
              </a:spcBef>
            </a:pPr>
            <a:r>
              <a:rPr lang="es-ES" dirty="0" smtClean="0"/>
              <a:t>Demasiado poco: Parece que estás atrapado o que el techo se te cae encima.</a:t>
            </a:r>
          </a:p>
          <a:p>
            <a:pPr marL="0" lvl="1">
              <a:lnSpc>
                <a:spcPct val="90000"/>
              </a:lnSpc>
              <a:spcBef>
                <a:spcPct val="0"/>
              </a:spcBef>
            </a:pPr>
            <a:endParaRPr lang="es-ES" dirty="0"/>
          </a:p>
          <a:p>
            <a:r>
              <a:rPr lang="es-ES" sz="1800" dirty="0" smtClean="0">
                <a:latin typeface="+mn-lt"/>
              </a:rPr>
              <a:t>Correcto: Una pequeña y cómoda distancia que te enmarca sin oprimir.</a:t>
            </a:r>
          </a:p>
        </p:txBody>
      </p:sp>
      <p:sp>
        <p:nvSpPr>
          <p:cNvPr id="9" name="Título 1"/>
          <p:cNvSpPr txBox="1">
            <a:spLocks/>
          </p:cNvSpPr>
          <p:nvPr/>
        </p:nvSpPr>
        <p:spPr>
          <a:xfrm>
            <a:off x="602775" y="183655"/>
            <a:ext cx="11354937" cy="9962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1.1. Espacio y Márgenes: Deja que tu Imagen Respire</a:t>
            </a:r>
            <a:r>
              <a:rPr lang="es-ES" sz="1800" dirty="0" smtClean="0">
                <a:latin typeface="+mn-lt"/>
              </a:rPr>
              <a:t/>
            </a:r>
            <a:br>
              <a:rPr lang="es-ES" sz="1800" dirty="0" smtClean="0">
                <a:latin typeface="+mn-lt"/>
              </a:rPr>
            </a:br>
            <a:r>
              <a:rPr lang="es-ES" sz="1800" dirty="0" smtClean="0">
                <a:latin typeface="+mn-lt"/>
              </a:rPr>
              <a:t/>
            </a:r>
            <a:br>
              <a:rPr lang="es-ES" sz="1800" dirty="0" smtClean="0">
                <a:latin typeface="+mn-lt"/>
              </a:rPr>
            </a:br>
            <a:r>
              <a:rPr lang="es-ES" sz="1800" dirty="0" smtClean="0">
                <a:latin typeface="+mn-lt"/>
              </a:rPr>
              <a:t>El espacio negativo (el área vacía alrededor del sujeto) es tan importante como el sujeto mismo</a:t>
            </a:r>
            <a:r>
              <a:rPr lang="es-ES" sz="1800" dirty="0" smtClean="0"/>
              <a:t>.</a:t>
            </a:r>
            <a:endParaRPr lang="es-ES" sz="1800" dirty="0"/>
          </a:p>
        </p:txBody>
      </p:sp>
    </p:spTree>
    <p:extLst>
      <p:ext uri="{BB962C8B-B14F-4D97-AF65-F5344CB8AC3E}">
        <p14:creationId xmlns:p14="http://schemas.microsoft.com/office/powerpoint/2010/main" val="28714799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smtClean="0">
                <a:solidFill>
                  <a:schemeClr val="bg2">
                    <a:lumMod val="75000"/>
                  </a:schemeClr>
                </a:solidFill>
              </a:rPr>
              <a:t>1. COMPOSICIÓN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3475" t="24367" r="5380" b="8965"/>
          <a:stretch/>
        </p:blipFill>
        <p:spPr>
          <a:xfrm>
            <a:off x="6171062" y="1665023"/>
            <a:ext cx="5592070" cy="3981789"/>
          </a:xfrm>
        </p:spPr>
      </p:pic>
      <p:sp>
        <p:nvSpPr>
          <p:cNvPr id="5" name="Título 1"/>
          <p:cNvSpPr txBox="1">
            <a:spLocks/>
          </p:cNvSpPr>
          <p:nvPr/>
        </p:nvSpPr>
        <p:spPr>
          <a:xfrm>
            <a:off x="602776" y="859809"/>
            <a:ext cx="5399964" cy="54863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Arial" panose="020B0604020202020204" pitchFamily="34" charset="0"/>
              <a:buChar char="•"/>
            </a:pPr>
            <a:r>
              <a:rPr lang="es-ES" sz="1800" b="1" dirty="0" smtClean="0">
                <a:latin typeface="+mn-lt"/>
              </a:rPr>
              <a:t>El Concepto:</a:t>
            </a:r>
            <a:r>
              <a:rPr lang="es-ES" sz="1800" dirty="0" smtClean="0">
                <a:latin typeface="+mn-lt"/>
              </a:rPr>
              <a:t> Dividir el encuadre con dos líneas horizontales y dos verticales, creando una cuadrícula de 3x3. Los puntos de interés se sitúan en las cuatro intersecciones.</a:t>
            </a:r>
          </a:p>
          <a:p>
            <a:pPr marL="285750" indent="-285750">
              <a:buFont typeface="Arial" panose="020B0604020202020204" pitchFamily="34" charset="0"/>
              <a:buChar char="•"/>
            </a:pPr>
            <a:endParaRPr lang="es-ES" sz="1800" dirty="0" smtClean="0">
              <a:latin typeface="+mn-lt"/>
            </a:endParaRPr>
          </a:p>
          <a:p>
            <a:pPr marL="285750" indent="-285750">
              <a:buFont typeface="Arial" panose="020B0604020202020204" pitchFamily="34" charset="0"/>
              <a:buChar char="•"/>
            </a:pPr>
            <a:r>
              <a:rPr lang="es-ES" sz="1800" b="1" dirty="0" smtClean="0">
                <a:latin typeface="+mn-lt"/>
              </a:rPr>
              <a:t>La Psicología:</a:t>
            </a:r>
            <a:r>
              <a:rPr lang="es-ES" sz="1800" dirty="0" smtClean="0">
                <a:latin typeface="+mn-lt"/>
              </a:rPr>
              <a:t> Nuestro cerebro encuentra esta asimetría controlada más interesante y natural que una simetría perfecta. Crea un equilibrio dinámico que invita a la exploración.</a:t>
            </a:r>
          </a:p>
          <a:p>
            <a:pPr marL="285750" indent="-285750">
              <a:buFont typeface="Arial" panose="020B0604020202020204" pitchFamily="34" charset="0"/>
              <a:buChar char="•"/>
            </a:pPr>
            <a:endParaRPr lang="es-ES" sz="1800" dirty="0" smtClean="0">
              <a:latin typeface="+mn-lt"/>
            </a:endParaRPr>
          </a:p>
          <a:p>
            <a:pPr marL="285750" indent="-285750">
              <a:buFont typeface="Arial" panose="020B0604020202020204" pitchFamily="34" charset="0"/>
              <a:buChar char="•"/>
            </a:pPr>
            <a:r>
              <a:rPr lang="es-ES" sz="1800" b="1" dirty="0" smtClean="0">
                <a:latin typeface="+mn-lt"/>
              </a:rPr>
              <a:t>Aplicación Pro:</a:t>
            </a:r>
            <a:r>
              <a:rPr lang="es-ES" sz="1800" dirty="0" smtClean="0">
                <a:latin typeface="+mn-lt"/>
              </a:rPr>
              <a:t> Úsala como base, pero no dejes que te esclavice. Una vez dominada, puedes romperla intencionadamente. Por ejemplo, una composición perfectamente centrada puede transmitir poder, confrontación y una estabilidad casi divina, un recurso muy usado por directores como Stanley Kubrick.</a:t>
            </a:r>
            <a:endParaRPr lang="es-ES" sz="1800" dirty="0">
              <a:latin typeface="+mn-lt"/>
            </a:endParaRPr>
          </a:p>
        </p:txBody>
      </p:sp>
      <p:sp>
        <p:nvSpPr>
          <p:cNvPr id="9" name="Título 1"/>
          <p:cNvSpPr txBox="1">
            <a:spLocks/>
          </p:cNvSpPr>
          <p:nvPr/>
        </p:nvSpPr>
        <p:spPr>
          <a:xfrm>
            <a:off x="602775" y="88123"/>
            <a:ext cx="11354937" cy="13721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1.2. La Regla de los Tercios: La Base de la Armonía</a:t>
            </a:r>
          </a:p>
          <a:p>
            <a:endParaRPr lang="es-ES" sz="1800" b="1" dirty="0" smtClean="0">
              <a:latin typeface="+mn-lt"/>
            </a:endParaRPr>
          </a:p>
          <a:p>
            <a:endParaRPr lang="es-ES" sz="1800" b="1" dirty="0" smtClean="0">
              <a:latin typeface="+mn-lt"/>
            </a:endParaRPr>
          </a:p>
          <a:p>
            <a:r>
              <a:rPr lang="es-ES" sz="1800" dirty="0" smtClean="0">
                <a:latin typeface="+mn-lt"/>
              </a:rPr>
              <a:t>Sigue siendo el punto de partida esencial, la base sobre la que se construyen reglas más complejas</a:t>
            </a:r>
            <a:r>
              <a:rPr lang="es-ES" sz="1800" dirty="0" smtClean="0"/>
              <a:t>.</a:t>
            </a:r>
          </a:p>
        </p:txBody>
      </p:sp>
    </p:spTree>
    <p:extLst>
      <p:ext uri="{BB962C8B-B14F-4D97-AF65-F5344CB8AC3E}">
        <p14:creationId xmlns:p14="http://schemas.microsoft.com/office/powerpoint/2010/main" val="3097922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smtClean="0">
                <a:solidFill>
                  <a:schemeClr val="bg2">
                    <a:lumMod val="75000"/>
                  </a:schemeClr>
                </a:solidFill>
              </a:rPr>
              <a:t>1. COMPOSICIÓN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4919" t="32220" r="3579" b="7455"/>
          <a:stretch/>
        </p:blipFill>
        <p:spPr>
          <a:xfrm>
            <a:off x="6387152" y="1692325"/>
            <a:ext cx="5420478" cy="3559716"/>
          </a:xfrm>
        </p:spPr>
      </p:pic>
      <p:sp>
        <p:nvSpPr>
          <p:cNvPr id="5" name="Título 1"/>
          <p:cNvSpPr txBox="1">
            <a:spLocks/>
          </p:cNvSpPr>
          <p:nvPr/>
        </p:nvSpPr>
        <p:spPr>
          <a:xfrm>
            <a:off x="602775" y="982640"/>
            <a:ext cx="5784377" cy="59981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Arial" panose="020B0604020202020204" pitchFamily="34" charset="0"/>
              <a:buChar char="•"/>
            </a:pPr>
            <a:r>
              <a:rPr lang="es-ES" sz="1800" b="1" dirty="0" smtClean="0">
                <a:latin typeface="+mn-lt"/>
              </a:rPr>
              <a:t>El Concepto:</a:t>
            </a:r>
            <a:r>
              <a:rPr lang="es-ES" sz="1800" dirty="0" smtClean="0">
                <a:latin typeface="+mn-lt"/>
              </a:rPr>
              <a:t> La Proporción Áurea (aproximadamente 1:1.618) es una relación matemática que se encuentra de forma ubicua en la naturaleza, el arte y la arquitectura, desde la concha de un </a:t>
            </a:r>
            <a:r>
              <a:rPr lang="es-ES" sz="1800" dirty="0" err="1" smtClean="0">
                <a:latin typeface="+mn-lt"/>
              </a:rPr>
              <a:t>nautilus</a:t>
            </a:r>
            <a:r>
              <a:rPr lang="es-ES" sz="1800" dirty="0" smtClean="0">
                <a:latin typeface="+mn-lt"/>
              </a:rPr>
              <a:t> hasta la fachada del Partenón. La Espiral de Fibonacci es su representación visual más famosa.</a:t>
            </a:r>
          </a:p>
          <a:p>
            <a:pPr marL="285750" indent="-285750">
              <a:buFont typeface="Arial" panose="020B0604020202020204" pitchFamily="34" charset="0"/>
              <a:buChar char="•"/>
            </a:pPr>
            <a:r>
              <a:rPr lang="es-ES" sz="1800" b="1" dirty="0" smtClean="0">
                <a:latin typeface="+mn-lt"/>
              </a:rPr>
              <a:t>La Psicología:</a:t>
            </a:r>
            <a:r>
              <a:rPr lang="es-ES" sz="1800" dirty="0" smtClean="0">
                <a:latin typeface="+mn-lt"/>
              </a:rPr>
              <a:t> Al ser un patrón fundamental de nuestro universo, lo percibimos como intrínsecamente bello, orgánico y armónico. Una composición basada en esta espiral se siente "correcta" a un nivel subconsciente y profundo. Es el secreto de obras maestras como la </a:t>
            </a:r>
            <a:r>
              <a:rPr lang="es-ES" sz="1800" i="1" dirty="0" smtClean="0">
                <a:latin typeface="+mn-lt"/>
              </a:rPr>
              <a:t>Mona Lisa</a:t>
            </a:r>
            <a:r>
              <a:rPr lang="es-ES" sz="1800" dirty="0" smtClean="0">
                <a:latin typeface="+mn-lt"/>
              </a:rPr>
              <a:t> de Da Vinci.</a:t>
            </a:r>
          </a:p>
          <a:p>
            <a:pPr marL="285750" indent="-285750">
              <a:buFont typeface="Arial" panose="020B0604020202020204" pitchFamily="34" charset="0"/>
              <a:buChar char="•"/>
            </a:pPr>
            <a:r>
              <a:rPr lang="es-ES" sz="1800" b="1" dirty="0" smtClean="0">
                <a:latin typeface="+mn-lt"/>
              </a:rPr>
              <a:t>Cómo Aplicarlo:</a:t>
            </a:r>
            <a:r>
              <a:rPr lang="es-ES" sz="1800" dirty="0" smtClean="0">
                <a:latin typeface="+mn-lt"/>
              </a:rPr>
              <a:t> Se superpone la espiral en el encuadre. El punto de máximo interés (tus ojos, por ejemplo) debe situarse en el "ojo" de la espiral, donde esta se contrae. El resto de la composición fluye a lo largo de su curva, creando un camino visual natural para el espectador. Al diseñar tu set a medida, podemos colocar elementos de interés secundario (una lámpara, una planta, una obra de arte) a lo largo de esta espiral para crear una composición magistral.</a:t>
            </a:r>
            <a:endParaRPr lang="es-ES" sz="1800" dirty="0">
              <a:latin typeface="+mn-lt"/>
            </a:endParaRPr>
          </a:p>
        </p:txBody>
      </p:sp>
      <p:sp>
        <p:nvSpPr>
          <p:cNvPr id="9" name="Título 1"/>
          <p:cNvSpPr txBox="1">
            <a:spLocks/>
          </p:cNvSpPr>
          <p:nvPr/>
        </p:nvSpPr>
        <p:spPr>
          <a:xfrm>
            <a:off x="602775" y="88123"/>
            <a:ext cx="11354937" cy="13721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1.3. La Proporción Áurea y la Espiral de Fibonacci</a:t>
            </a:r>
          </a:p>
          <a:p>
            <a:endParaRPr lang="es-ES" sz="1800" b="1" dirty="0">
              <a:latin typeface="+mn-lt"/>
            </a:endParaRPr>
          </a:p>
          <a:p>
            <a:endParaRPr lang="es-ES" sz="1800" b="1" dirty="0" smtClean="0">
              <a:latin typeface="+mn-lt"/>
            </a:endParaRPr>
          </a:p>
          <a:p>
            <a:r>
              <a:rPr lang="es-ES" sz="1800" dirty="0" smtClean="0">
                <a:latin typeface="+mn-lt"/>
              </a:rPr>
              <a:t>Si la Regla de los Tercios es una buena gramática, la Proporción Áurea es poesía.</a:t>
            </a:r>
            <a:endParaRPr lang="es-ES" sz="1800" dirty="0">
              <a:latin typeface="+mn-lt"/>
            </a:endParaRPr>
          </a:p>
        </p:txBody>
      </p:sp>
    </p:spTree>
    <p:extLst>
      <p:ext uri="{BB962C8B-B14F-4D97-AF65-F5344CB8AC3E}">
        <p14:creationId xmlns:p14="http://schemas.microsoft.com/office/powerpoint/2010/main" val="2583709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smtClean="0">
                <a:solidFill>
                  <a:schemeClr val="bg2">
                    <a:lumMod val="75000"/>
                  </a:schemeClr>
                </a:solidFill>
              </a:rPr>
              <a:t>1. COMPOSICIÓN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12502" t="12268" r="9076" b="12585"/>
          <a:stretch/>
        </p:blipFill>
        <p:spPr>
          <a:xfrm>
            <a:off x="6384642" y="1351129"/>
            <a:ext cx="5679979" cy="4947892"/>
          </a:xfrm>
        </p:spPr>
      </p:pic>
      <p:sp>
        <p:nvSpPr>
          <p:cNvPr id="5" name="Título 1"/>
          <p:cNvSpPr txBox="1">
            <a:spLocks/>
          </p:cNvSpPr>
          <p:nvPr/>
        </p:nvSpPr>
        <p:spPr>
          <a:xfrm>
            <a:off x="602775" y="982640"/>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Las Diagonales:</a:t>
            </a:r>
            <a:r>
              <a:rPr lang="es-ES" sz="1800" dirty="0" smtClean="0">
                <a:latin typeface="+mn-lt"/>
              </a:rPr>
              <a:t> Son vectores de movimiento y fuerza.</a:t>
            </a:r>
          </a:p>
          <a:p>
            <a:endParaRPr lang="es-ES" sz="1800" dirty="0" smtClean="0">
              <a:latin typeface="+mn-lt"/>
            </a:endParaRPr>
          </a:p>
          <a:p>
            <a:pPr marL="742950" lvl="1" indent="-285750">
              <a:buFont typeface="Arial" panose="020B0604020202020204" pitchFamily="34" charset="0"/>
              <a:buChar char="•"/>
            </a:pPr>
            <a:r>
              <a:rPr lang="es-ES" b="1" dirty="0" smtClean="0"/>
              <a:t>Diagonal Ascendente (de izq. a dcha.):</a:t>
            </a:r>
            <a:r>
              <a:rPr lang="es-ES" dirty="0" smtClean="0"/>
              <a:t> En la cultura occidental, leemos de izquierda a derecha. Esta línea se percibe como un ascenso, una mejora, un crecimiento o un esfuerzo positivo.</a:t>
            </a:r>
          </a:p>
          <a:p>
            <a:pPr marL="742950" lvl="1" indent="-285750">
              <a:buFont typeface="Arial" panose="020B0604020202020204" pitchFamily="34" charset="0"/>
              <a:buChar char="•"/>
            </a:pPr>
            <a:endParaRPr lang="es-ES" dirty="0" smtClean="0"/>
          </a:p>
          <a:p>
            <a:pPr marL="742950" lvl="1" indent="-285750">
              <a:buFont typeface="Arial" panose="020B0604020202020204" pitchFamily="34" charset="0"/>
              <a:buChar char="•"/>
            </a:pPr>
            <a:r>
              <a:rPr lang="es-ES" b="1" dirty="0" smtClean="0"/>
              <a:t>Diagonal Descendente:</a:t>
            </a:r>
            <a:r>
              <a:rPr lang="es-ES" dirty="0" smtClean="0"/>
              <a:t> Se percibe como una caída, una decadencia, una relajación o una fuerza negativa.</a:t>
            </a:r>
          </a:p>
          <a:p>
            <a:pPr marL="742950" lvl="1" indent="-285750">
              <a:buFont typeface="Arial" panose="020B0604020202020204" pitchFamily="34" charset="0"/>
              <a:buChar char="•"/>
            </a:pPr>
            <a:endParaRPr lang="es-ES" dirty="0" smtClean="0"/>
          </a:p>
          <a:p>
            <a:pPr marL="742950" lvl="1" indent="-285750">
              <a:buFont typeface="Arial" panose="020B0604020202020204" pitchFamily="34" charset="0"/>
              <a:buChar char="•"/>
            </a:pPr>
            <a:r>
              <a:rPr lang="es-ES" b="1" dirty="0" smtClean="0"/>
              <a:t>Líneas Convergentes:</a:t>
            </a:r>
            <a:r>
              <a:rPr lang="es-ES" dirty="0" smtClean="0"/>
              <a:t> Las líneas que fugan hacia un punto crean una sensación de profundidad y perspectiva inmensa, atrayendo la mirada con una fuerza magnética.</a:t>
            </a:r>
          </a:p>
        </p:txBody>
      </p:sp>
      <p:sp>
        <p:nvSpPr>
          <p:cNvPr id="9" name="Título 1"/>
          <p:cNvSpPr txBox="1">
            <a:spLocks/>
          </p:cNvSpPr>
          <p:nvPr/>
        </p:nvSpPr>
        <p:spPr>
          <a:xfrm>
            <a:off x="602775" y="88123"/>
            <a:ext cx="11354937" cy="13721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1.4. El Poder de las Diagonales y los Triángulos</a:t>
            </a:r>
          </a:p>
          <a:p>
            <a:endParaRPr lang="es-ES" sz="1800" b="1" dirty="0" smtClean="0">
              <a:latin typeface="+mn-lt"/>
            </a:endParaRPr>
          </a:p>
          <a:p>
            <a:r>
              <a:rPr lang="es-ES" sz="1800" dirty="0" smtClean="0">
                <a:latin typeface="+mn-lt"/>
              </a:rPr>
              <a:t>Las líneas rectas que no son ni horizontales ni verticales añaden una capa de energía y significado.</a:t>
            </a:r>
            <a:endParaRPr lang="es-ES" sz="1800" dirty="0">
              <a:latin typeface="+mn-lt"/>
            </a:endParaRPr>
          </a:p>
        </p:txBody>
      </p:sp>
    </p:spTree>
    <p:extLst>
      <p:ext uri="{BB962C8B-B14F-4D97-AF65-F5344CB8AC3E}">
        <p14:creationId xmlns:p14="http://schemas.microsoft.com/office/powerpoint/2010/main" val="25567510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smtClean="0">
                <a:solidFill>
                  <a:schemeClr val="bg2">
                    <a:lumMod val="75000"/>
                  </a:schemeClr>
                </a:solidFill>
              </a:rPr>
              <a:t>1. COMPOSICIÓN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12502" t="12268" r="9076" b="12585"/>
          <a:stretch/>
        </p:blipFill>
        <p:spPr>
          <a:xfrm>
            <a:off x="6384642" y="1214651"/>
            <a:ext cx="5679979" cy="4947892"/>
          </a:xfrm>
        </p:spPr>
      </p:pic>
      <p:sp>
        <p:nvSpPr>
          <p:cNvPr id="5" name="Título 1"/>
          <p:cNvSpPr txBox="1">
            <a:spLocks/>
          </p:cNvSpPr>
          <p:nvPr/>
        </p:nvSpPr>
        <p:spPr>
          <a:xfrm>
            <a:off x="602775" y="982640"/>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Los Triángulos:</a:t>
            </a:r>
            <a:r>
              <a:rPr lang="es-ES" sz="1800" dirty="0" smtClean="0">
                <a:latin typeface="+mn-lt"/>
              </a:rPr>
              <a:t> Son la estructura compositiva más estable y potente.</a:t>
            </a:r>
          </a:p>
          <a:p>
            <a:endParaRPr lang="es-ES" sz="1800" dirty="0" smtClean="0">
              <a:latin typeface="+mn-lt"/>
            </a:endParaRPr>
          </a:p>
          <a:p>
            <a:pPr marL="742950" lvl="1" indent="-285750">
              <a:buFont typeface="Arial" panose="020B0604020202020204" pitchFamily="34" charset="0"/>
              <a:buChar char="•"/>
            </a:pPr>
            <a:r>
              <a:rPr lang="es-ES" b="1" dirty="0" smtClean="0"/>
              <a:t>Triángulo Estable:</a:t>
            </a:r>
            <a:r>
              <a:rPr lang="es-ES" dirty="0" smtClean="0"/>
              <a:t> Con una base ancha en la parte inferior, transmite solidez, poder, permanencia y equilibrio. Piensa en las pirámides de Egipto. Puedes componer tu propia postura para formar un triángulo estable con tus hombros y cabeza.</a:t>
            </a:r>
          </a:p>
          <a:p>
            <a:pPr marL="742950" lvl="1" indent="-285750">
              <a:buFont typeface="Arial" panose="020B0604020202020204" pitchFamily="34" charset="0"/>
              <a:buChar char="•"/>
            </a:pPr>
            <a:endParaRPr lang="es-ES" dirty="0" smtClean="0"/>
          </a:p>
          <a:p>
            <a:pPr marL="742950" lvl="1" indent="-285750">
              <a:buFont typeface="Arial" panose="020B0604020202020204" pitchFamily="34" charset="0"/>
              <a:buChar char="•"/>
            </a:pPr>
            <a:r>
              <a:rPr lang="es-ES" b="1" dirty="0" smtClean="0"/>
              <a:t>Triángulo Invertido:</a:t>
            </a:r>
            <a:r>
              <a:rPr lang="es-ES" dirty="0" smtClean="0"/>
              <a:t> Apoyado sobre su vértice, transmite inestabilidad, tensión, precariedad y dinamismo.</a:t>
            </a:r>
          </a:p>
          <a:p>
            <a:pPr marL="742950" lvl="1" indent="-285750">
              <a:buFont typeface="Arial" panose="020B0604020202020204" pitchFamily="34" charset="0"/>
              <a:buChar char="•"/>
            </a:pPr>
            <a:endParaRPr lang="es-ES" dirty="0" smtClean="0"/>
          </a:p>
          <a:p>
            <a:r>
              <a:rPr lang="es-ES" sz="1800" b="1" dirty="0" smtClean="0">
                <a:latin typeface="+mn-lt"/>
              </a:rPr>
              <a:t>Referencia Artística:</a:t>
            </a:r>
            <a:r>
              <a:rPr lang="es-ES" sz="1800" dirty="0" smtClean="0">
                <a:latin typeface="+mn-lt"/>
              </a:rPr>
              <a:t> La obra neoclásica "El Juramento de los </a:t>
            </a:r>
            <a:r>
              <a:rPr lang="es-ES" sz="1800" dirty="0" err="1" smtClean="0">
                <a:latin typeface="+mn-lt"/>
              </a:rPr>
              <a:t>Horacios</a:t>
            </a:r>
            <a:r>
              <a:rPr lang="es-ES" sz="1800" dirty="0" smtClean="0">
                <a:latin typeface="+mn-lt"/>
              </a:rPr>
              <a:t>" de Jacques-Louis David es una clase magistral sobre el uso de diagonales (las espadas, los brazos) y triángulos (los grupos de figuras) para crear drama, tensión y estabilidad.</a:t>
            </a:r>
            <a:endParaRPr lang="es-ES" sz="1800" dirty="0">
              <a:latin typeface="+mn-lt"/>
            </a:endParaRPr>
          </a:p>
        </p:txBody>
      </p:sp>
    </p:spTree>
    <p:extLst>
      <p:ext uri="{BB962C8B-B14F-4D97-AF65-F5344CB8AC3E}">
        <p14:creationId xmlns:p14="http://schemas.microsoft.com/office/powerpoint/2010/main" val="19026589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smtClean="0">
                <a:solidFill>
                  <a:schemeClr val="bg2">
                    <a:lumMod val="75000"/>
                  </a:schemeClr>
                </a:solidFill>
              </a:rPr>
              <a:t>1. COMPOSICIÓN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3168" t="21336" r="2643" b="8386"/>
          <a:stretch/>
        </p:blipFill>
        <p:spPr>
          <a:xfrm>
            <a:off x="6096159" y="2076354"/>
            <a:ext cx="5693234" cy="2715905"/>
          </a:xfrm>
        </p:spPr>
      </p:pic>
      <p:sp>
        <p:nvSpPr>
          <p:cNvPr id="5" name="Título 1"/>
          <p:cNvSpPr txBox="1">
            <a:spLocks/>
          </p:cNvSpPr>
          <p:nvPr/>
        </p:nvSpPr>
        <p:spPr>
          <a:xfrm>
            <a:off x="602775" y="982640"/>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9" name="Título 1"/>
          <p:cNvSpPr txBox="1">
            <a:spLocks/>
          </p:cNvSpPr>
          <p:nvPr/>
        </p:nvSpPr>
        <p:spPr>
          <a:xfrm>
            <a:off x="602775" y="88123"/>
            <a:ext cx="11354937" cy="13721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1.5. Creando un Mundo Tridimensional</a:t>
            </a:r>
          </a:p>
          <a:p>
            <a:endParaRPr lang="es-ES" sz="1800" b="1" dirty="0" smtClean="0">
              <a:latin typeface="+mn-lt"/>
            </a:endParaRPr>
          </a:p>
          <a:p>
            <a:r>
              <a:rPr lang="es-ES" sz="1800" dirty="0" smtClean="0">
                <a:latin typeface="+mn-lt"/>
              </a:rPr>
              <a:t>Tu encuadre no es un plano, es una ventana a un espacio. Debes darle profundidad.</a:t>
            </a:r>
            <a:endParaRPr lang="es-ES" sz="1800" dirty="0">
              <a:latin typeface="+mn-lt"/>
            </a:endParaRPr>
          </a:p>
        </p:txBody>
      </p:sp>
      <p:sp>
        <p:nvSpPr>
          <p:cNvPr id="10" name="Título 1"/>
          <p:cNvSpPr txBox="1">
            <a:spLocks/>
          </p:cNvSpPr>
          <p:nvPr/>
        </p:nvSpPr>
        <p:spPr>
          <a:xfrm>
            <a:off x="-3805452" y="2538485"/>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12" name="Rectangle 4"/>
          <p:cNvSpPr>
            <a:spLocks noChangeArrowheads="1"/>
          </p:cNvSpPr>
          <p:nvPr/>
        </p:nvSpPr>
        <p:spPr bwMode="auto">
          <a:xfrm>
            <a:off x="602776" y="1311364"/>
            <a:ext cx="540224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s-ES" altLang="es-ES" sz="1800" b="1" i="0" u="none" strike="noStrike" cap="none" normalizeH="0" baseline="0" dirty="0" smtClean="0">
                <a:ln>
                  <a:noFill/>
                </a:ln>
                <a:solidFill>
                  <a:schemeClr val="tx1"/>
                </a:solidFill>
                <a:effectLst/>
                <a:latin typeface="Arial" panose="020B0604020202020204" pitchFamily="34" charset="0"/>
              </a:rPr>
              <a:t>Planos de Profundidad:</a:t>
            </a:r>
            <a:r>
              <a:rPr kumimoji="0" lang="es-ES" altLang="es-ES" sz="1800" b="0" i="0" u="none" strike="noStrike" cap="none" normalizeH="0" baseline="0" dirty="0" smtClean="0">
                <a:ln>
                  <a:noFill/>
                </a:ln>
                <a:solidFill>
                  <a:schemeClr val="tx1"/>
                </a:solidFill>
                <a:effectLst/>
                <a:latin typeface="Arial" panose="020B0604020202020204" pitchFamily="34" charset="0"/>
              </a:rPr>
              <a:t> Una imagen profesional casi siempre tiene tres planos definidos.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latin typeface="Arial" panose="020B0604020202020204" pitchFamily="34" charset="0"/>
              </a:rPr>
              <a:t>Primer Plano (</a:t>
            </a:r>
            <a:r>
              <a:rPr kumimoji="0" lang="es-ES" altLang="es-ES" sz="1800" b="1" i="0" u="none" strike="noStrike" cap="none" normalizeH="0" baseline="0" dirty="0" err="1" smtClean="0">
                <a:ln>
                  <a:noFill/>
                </a:ln>
                <a:solidFill>
                  <a:schemeClr val="tx1"/>
                </a:solidFill>
                <a:effectLst/>
                <a:latin typeface="Arial" panose="020B0604020202020204" pitchFamily="34" charset="0"/>
              </a:rPr>
              <a:t>Foreground</a:t>
            </a:r>
            <a:r>
              <a:rPr kumimoji="0" lang="es-ES" altLang="es-ES" sz="1800" b="1" i="0" u="none" strike="noStrike" cap="none" normalizeH="0" baseline="0" dirty="0" smtClean="0">
                <a:ln>
                  <a:noFill/>
                </a:ln>
                <a:solidFill>
                  <a:schemeClr val="tx1"/>
                </a:solidFill>
                <a:effectLst/>
                <a:latin typeface="Arial" panose="020B0604020202020204" pitchFamily="34" charset="0"/>
              </a:rPr>
              <a:t>):</a:t>
            </a:r>
            <a:r>
              <a:rPr kumimoji="0" lang="es-ES" altLang="es-ES" sz="1800" b="0" i="0" u="none" strike="noStrike" cap="none" normalizeH="0" baseline="0" dirty="0" smtClean="0">
                <a:ln>
                  <a:noFill/>
                </a:ln>
                <a:solidFill>
                  <a:schemeClr val="tx1"/>
                </a:solidFill>
                <a:effectLst/>
                <a:latin typeface="Arial" panose="020B0604020202020204" pitchFamily="34" charset="0"/>
              </a:rPr>
              <a:t> Elementos cercanos a la cámara. Pueden estar desenfocados.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latin typeface="Arial" panose="020B0604020202020204" pitchFamily="34" charset="0"/>
              </a:rPr>
              <a:t>Plano Medio (</a:t>
            </a:r>
            <a:r>
              <a:rPr kumimoji="0" lang="es-ES" altLang="es-ES" sz="1800" b="1" i="0" u="none" strike="noStrike" cap="none" normalizeH="0" baseline="0" dirty="0" err="1" smtClean="0">
                <a:ln>
                  <a:noFill/>
                </a:ln>
                <a:solidFill>
                  <a:schemeClr val="tx1"/>
                </a:solidFill>
                <a:effectLst/>
                <a:latin typeface="Arial" panose="020B0604020202020204" pitchFamily="34" charset="0"/>
              </a:rPr>
              <a:t>Middle-ground</a:t>
            </a:r>
            <a:r>
              <a:rPr kumimoji="0" lang="es-ES" altLang="es-ES" sz="1800" b="1" i="0" u="none" strike="noStrike" cap="none" normalizeH="0" baseline="0" dirty="0" smtClean="0">
                <a:ln>
                  <a:noFill/>
                </a:ln>
                <a:solidFill>
                  <a:schemeClr val="tx1"/>
                </a:solidFill>
                <a:effectLst/>
                <a:latin typeface="Arial" panose="020B0604020202020204" pitchFamily="34" charset="0"/>
              </a:rPr>
              <a:t>):</a:t>
            </a:r>
            <a:r>
              <a:rPr kumimoji="0" lang="es-ES" altLang="es-ES" sz="1800" b="0" i="0" u="none" strike="noStrike" cap="none" normalizeH="0" baseline="0" dirty="0" smtClean="0">
                <a:ln>
                  <a:noFill/>
                </a:ln>
                <a:solidFill>
                  <a:schemeClr val="tx1"/>
                </a:solidFill>
                <a:effectLst/>
                <a:latin typeface="Arial" panose="020B0604020202020204" pitchFamily="34" charset="0"/>
              </a:rPr>
              <a:t> Donde te sitúas tú, el sujeto principal.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latin typeface="Arial" panose="020B0604020202020204" pitchFamily="34" charset="0"/>
              </a:rPr>
              <a:t>Plano de Fondo (</a:t>
            </a:r>
            <a:r>
              <a:rPr kumimoji="0" lang="es-ES" altLang="es-ES" sz="1800" b="1" i="0" u="none" strike="noStrike" cap="none" normalizeH="0" baseline="0" dirty="0" err="1" smtClean="0">
                <a:ln>
                  <a:noFill/>
                </a:ln>
                <a:solidFill>
                  <a:schemeClr val="tx1"/>
                </a:solidFill>
                <a:effectLst/>
                <a:latin typeface="Arial" panose="020B0604020202020204" pitchFamily="34" charset="0"/>
              </a:rPr>
              <a:t>Background</a:t>
            </a:r>
            <a:r>
              <a:rPr kumimoji="0" lang="es-ES" altLang="es-ES" sz="1800" b="1" i="0" u="none" strike="noStrike" cap="none" normalizeH="0" baseline="0" dirty="0" smtClean="0">
                <a:ln>
                  <a:noFill/>
                </a:ln>
                <a:solidFill>
                  <a:schemeClr val="tx1"/>
                </a:solidFill>
                <a:effectLst/>
                <a:latin typeface="Arial" panose="020B0604020202020204" pitchFamily="34" charset="0"/>
              </a:rPr>
              <a:t>):</a:t>
            </a:r>
            <a:r>
              <a:rPr kumimoji="0" lang="es-ES" altLang="es-ES" sz="1800" b="0" i="0" u="none" strike="noStrike" cap="none" normalizeH="0" baseline="0" dirty="0" smtClean="0">
                <a:ln>
                  <a:noFill/>
                </a:ln>
                <a:solidFill>
                  <a:schemeClr val="tx1"/>
                </a:solidFill>
                <a:effectLst/>
                <a:latin typeface="Arial" panose="020B0604020202020204" pitchFamily="34" charset="0"/>
              </a:rPr>
              <a:t> El entorno detrás de ti. Desenfocado en ocasiones según</a:t>
            </a:r>
            <a:r>
              <a:rPr kumimoji="0" lang="es-ES" altLang="es-ES" sz="1800" b="0" i="0" u="none" strike="noStrike" cap="none" normalizeH="0" dirty="0" smtClean="0">
                <a:ln>
                  <a:noFill/>
                </a:ln>
                <a:solidFill>
                  <a:schemeClr val="tx1"/>
                </a:solidFill>
                <a:effectLst/>
                <a:latin typeface="Arial" panose="020B0604020202020204" pitchFamily="34" charset="0"/>
              </a:rPr>
              <a:t> apertura de lente.</a:t>
            </a:r>
            <a:endParaRPr kumimoji="0" lang="es-ES" altLang="es-E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4"/>
          <p:cNvSpPr>
            <a:spLocks noChangeArrowheads="1"/>
          </p:cNvSpPr>
          <p:nvPr/>
        </p:nvSpPr>
        <p:spPr bwMode="auto">
          <a:xfrm>
            <a:off x="602773" y="5102795"/>
            <a:ext cx="952335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ES" b="1" dirty="0"/>
              <a:t>Encuadre Natural (Natural </a:t>
            </a:r>
            <a:r>
              <a:rPr lang="es-ES" b="1" dirty="0" err="1"/>
              <a:t>Framing</a:t>
            </a:r>
            <a:r>
              <a:rPr lang="es-ES" b="1" dirty="0"/>
              <a:t>):</a:t>
            </a:r>
            <a:r>
              <a:rPr lang="es-ES" dirty="0"/>
              <a:t> Utiliza elementos del primer plano o del fondo (marcos de puertas, ventanas, estanterías, plantas) para crear un marco dentro de tu encuadre. Esta técnica, muy usada por directores como </a:t>
            </a:r>
            <a:r>
              <a:rPr lang="es-ES" dirty="0" err="1"/>
              <a:t>Wes</a:t>
            </a:r>
            <a:r>
              <a:rPr lang="es-ES" dirty="0"/>
              <a:t> Anderson, añade una profundidad inmensa y centra la atención en ti de forma elegante</a:t>
            </a:r>
            <a:r>
              <a:rPr lang="es-ES" dirty="0" smtClean="0"/>
              <a:t>.</a:t>
            </a:r>
          </a:p>
          <a:p>
            <a:endParaRPr lang="es-ES" dirty="0"/>
          </a:p>
        </p:txBody>
      </p:sp>
    </p:spTree>
    <p:extLst>
      <p:ext uri="{BB962C8B-B14F-4D97-AF65-F5344CB8AC3E}">
        <p14:creationId xmlns:p14="http://schemas.microsoft.com/office/powerpoint/2010/main" val="6935420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a:solidFill>
                  <a:schemeClr val="bg2">
                    <a:lumMod val="75000"/>
                  </a:schemeClr>
                </a:solidFill>
              </a:rPr>
              <a:t>2</a:t>
            </a:r>
            <a:r>
              <a:rPr lang="es-ES" sz="2000" b="1" dirty="0" smtClean="0">
                <a:solidFill>
                  <a:schemeClr val="bg2">
                    <a:lumMod val="75000"/>
                  </a:schemeClr>
                </a:solidFill>
              </a:rPr>
              <a:t>. ILUMINACIÓN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17030" t="13330" r="14197" b="9357"/>
          <a:stretch/>
        </p:blipFill>
        <p:spPr>
          <a:xfrm>
            <a:off x="7210859" y="1811864"/>
            <a:ext cx="4942076" cy="4377268"/>
          </a:xfrm>
        </p:spPr>
      </p:pic>
      <p:sp>
        <p:nvSpPr>
          <p:cNvPr id="5" name="Título 1"/>
          <p:cNvSpPr txBox="1">
            <a:spLocks/>
          </p:cNvSpPr>
          <p:nvPr/>
        </p:nvSpPr>
        <p:spPr>
          <a:xfrm>
            <a:off x="602775" y="982640"/>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9" name="Título 1"/>
          <p:cNvSpPr txBox="1">
            <a:spLocks/>
          </p:cNvSpPr>
          <p:nvPr/>
        </p:nvSpPr>
        <p:spPr>
          <a:xfrm>
            <a:off x="602775" y="88123"/>
            <a:ext cx="11354937" cy="13721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2.1</a:t>
            </a:r>
            <a:r>
              <a:rPr lang="es-ES" sz="1800" b="1" dirty="0" smtClean="0">
                <a:latin typeface="+mn-lt"/>
              </a:rPr>
              <a:t>. ILUMINACIÓN – El arte de esculpir con luz.</a:t>
            </a:r>
          </a:p>
          <a:p>
            <a:endParaRPr lang="es-ES" sz="1800" b="1" dirty="0" smtClean="0">
              <a:latin typeface="+mn-lt"/>
            </a:endParaRPr>
          </a:p>
          <a:p>
            <a:r>
              <a:rPr lang="es-ES" sz="1800" dirty="0">
                <a:latin typeface="+mn-lt"/>
              </a:rPr>
              <a:t>Si la composición es el esqueleto, la iluminación es el alma de tu imagen. Es lo que crea volumen, textura, atmósfera y, lo más importante para ti, la ilusión de que realmente estás dentro de tu entorno virtual</a:t>
            </a:r>
            <a:r>
              <a:rPr lang="es-ES" sz="1800" dirty="0" smtClean="0">
                <a:latin typeface="+mn-lt"/>
              </a:rPr>
              <a:t>.</a:t>
            </a:r>
            <a:endParaRPr lang="es-ES" sz="1800" dirty="0">
              <a:latin typeface="+mn-lt"/>
            </a:endParaRPr>
          </a:p>
        </p:txBody>
      </p:sp>
      <p:sp>
        <p:nvSpPr>
          <p:cNvPr id="10" name="Título 1"/>
          <p:cNvSpPr txBox="1">
            <a:spLocks/>
          </p:cNvSpPr>
          <p:nvPr/>
        </p:nvSpPr>
        <p:spPr>
          <a:xfrm>
            <a:off x="-3805452" y="2538485"/>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12" name="Rectangle 4"/>
          <p:cNvSpPr>
            <a:spLocks noChangeArrowheads="1"/>
          </p:cNvSpPr>
          <p:nvPr/>
        </p:nvSpPr>
        <p:spPr bwMode="auto">
          <a:xfrm>
            <a:off x="602775" y="1358493"/>
            <a:ext cx="659389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ES" b="1" u="sng" dirty="0" smtClean="0"/>
              <a:t>EL TRIÁNGULO DE LA LUZ</a:t>
            </a:r>
            <a:r>
              <a:rPr lang="es-ES" dirty="0" smtClean="0"/>
              <a:t>: </a:t>
            </a:r>
            <a:r>
              <a:rPr lang="es-ES" dirty="0"/>
              <a:t>El Estándar Profesional de 3 Puntos</a:t>
            </a:r>
            <a:br>
              <a:rPr lang="es-ES" dirty="0"/>
            </a:br>
            <a:r>
              <a:rPr lang="es-ES" dirty="0"/>
              <a:t>Esta es la configuración base utilizada en cine, televisión y fotografía profesional</a:t>
            </a:r>
            <a:r>
              <a:rPr lang="es-ES" dirty="0" smtClean="0"/>
              <a:t>.</a:t>
            </a:r>
            <a:endParaRPr lang="es-ES" dirty="0"/>
          </a:p>
          <a:p>
            <a:pPr marL="285750" indent="-285750">
              <a:buFont typeface="Arial" panose="020B0604020202020204" pitchFamily="34" charset="0"/>
              <a:buChar char="•"/>
            </a:pPr>
            <a:r>
              <a:rPr lang="es-ES" b="1" dirty="0"/>
              <a:t>Key Light (Luz Principal)</a:t>
            </a:r>
            <a:r>
              <a:rPr lang="es-ES" dirty="0"/>
              <a:t>: Es tu foco de luz más potente. Se coloca a unos 45 grados de la cámara, en un lado, y ligeramente por encima de la línea de los ojos. Es la luz que define la forma de tu rostro y crea las sombras principales</a:t>
            </a:r>
            <a:r>
              <a:rPr lang="es-ES" dirty="0" smtClean="0"/>
              <a:t>.</a:t>
            </a:r>
            <a:endParaRPr lang="es-ES" dirty="0"/>
          </a:p>
          <a:p>
            <a:pPr marL="285750" indent="-285750">
              <a:buFont typeface="Arial" panose="020B0604020202020204" pitchFamily="34" charset="0"/>
              <a:buChar char="•"/>
            </a:pPr>
            <a:r>
              <a:rPr lang="es-ES" b="1" dirty="0" err="1"/>
              <a:t>Fill</a:t>
            </a:r>
            <a:r>
              <a:rPr lang="es-ES" b="1" dirty="0"/>
              <a:t> Light (Luz de Relleno)</a:t>
            </a:r>
            <a:r>
              <a:rPr lang="es-ES" dirty="0"/>
              <a:t>: Es una luz más suave y menos intensa, colocada en el lado opuesto a la Key Light. Su única función es "rellenar" las sombras creadas por la luz principal para que no sean tan duras, controlando así el contraste</a:t>
            </a:r>
            <a:r>
              <a:rPr lang="es-ES" dirty="0" smtClean="0"/>
              <a:t>.</a:t>
            </a:r>
            <a:endParaRPr lang="es-ES" dirty="0"/>
          </a:p>
          <a:p>
            <a:pPr marL="285750" indent="-285750">
              <a:buFont typeface="Arial" panose="020B0604020202020204" pitchFamily="34" charset="0"/>
              <a:buChar char="•"/>
            </a:pPr>
            <a:r>
              <a:rPr lang="es-ES" b="1" dirty="0" err="1"/>
              <a:t>Backlight</a:t>
            </a:r>
            <a:r>
              <a:rPr lang="es-ES" b="1" dirty="0"/>
              <a:t> (Contraluz / Luz de Pelo)</a:t>
            </a:r>
            <a:r>
              <a:rPr lang="es-ES" dirty="0"/>
              <a:t>: Esta es la luz más importante para un fondo virtual. Se coloca detrás de ti, fuera de plano, apuntando a tu espalda y hombros. Crea un sutil borde de luz que te "recorta" y te separa del fondo, eliminando la sensación de estar "pegado" a él y haciendo el trabajo del software de </a:t>
            </a:r>
            <a:r>
              <a:rPr lang="es-ES" dirty="0" err="1"/>
              <a:t>chroma</a:t>
            </a:r>
            <a:r>
              <a:rPr lang="es-ES" dirty="0"/>
              <a:t> </a:t>
            </a:r>
            <a:r>
              <a:rPr lang="es-ES" dirty="0" err="1"/>
              <a:t>key</a:t>
            </a:r>
            <a:r>
              <a:rPr lang="es-ES" dirty="0"/>
              <a:t> infinitamente más fácil y limpio.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773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a:solidFill>
                  <a:schemeClr val="bg2">
                    <a:lumMod val="75000"/>
                  </a:schemeClr>
                </a:solidFill>
              </a:rPr>
              <a:t>2</a:t>
            </a:r>
            <a:r>
              <a:rPr lang="es-ES" sz="2000" b="1" dirty="0" smtClean="0">
                <a:solidFill>
                  <a:schemeClr val="bg2">
                    <a:lumMod val="75000"/>
                  </a:schemeClr>
                </a:solidFill>
              </a:rPr>
              <a:t>. ILUMINACIÓN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3131" t="18517" r="3871" b="8241"/>
          <a:stretch/>
        </p:blipFill>
        <p:spPr>
          <a:xfrm>
            <a:off x="5987775" y="2141626"/>
            <a:ext cx="5909223" cy="3356810"/>
          </a:xfrm>
        </p:spPr>
      </p:pic>
      <p:sp>
        <p:nvSpPr>
          <p:cNvPr id="5" name="Título 1"/>
          <p:cNvSpPr txBox="1">
            <a:spLocks/>
          </p:cNvSpPr>
          <p:nvPr/>
        </p:nvSpPr>
        <p:spPr>
          <a:xfrm>
            <a:off x="602775" y="982640"/>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9" name="Título 1"/>
          <p:cNvSpPr txBox="1">
            <a:spLocks/>
          </p:cNvSpPr>
          <p:nvPr/>
        </p:nvSpPr>
        <p:spPr>
          <a:xfrm>
            <a:off x="602775" y="88123"/>
            <a:ext cx="11354937" cy="13721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latin typeface="+mn-lt"/>
              </a:rPr>
              <a:t>2.2</a:t>
            </a:r>
            <a:r>
              <a:rPr lang="es-ES" sz="1800" b="1" dirty="0" smtClean="0">
                <a:latin typeface="+mn-lt"/>
              </a:rPr>
              <a:t>. ILUMINACIÓN – </a:t>
            </a:r>
            <a:r>
              <a:rPr lang="es-ES" sz="1800" b="1" dirty="0">
                <a:latin typeface="+mn-lt"/>
              </a:rPr>
              <a:t>Las Cualidades de la Luz: Posición, Distancia y </a:t>
            </a:r>
            <a:r>
              <a:rPr lang="es-ES" sz="1800" b="1" dirty="0" smtClean="0">
                <a:latin typeface="+mn-lt"/>
              </a:rPr>
              <a:t>Color.</a:t>
            </a:r>
            <a:endParaRPr lang="es-ES" sz="1800" b="1" dirty="0" smtClean="0">
              <a:latin typeface="+mn-lt"/>
            </a:endParaRPr>
          </a:p>
          <a:p>
            <a:endParaRPr lang="es-ES" sz="1800" b="1" dirty="0" smtClean="0">
              <a:latin typeface="+mn-lt"/>
            </a:endParaRPr>
          </a:p>
          <a:p>
            <a:r>
              <a:rPr lang="es-ES" sz="1800" dirty="0">
                <a:latin typeface="+mn-lt"/>
              </a:rPr>
              <a:t>No todas las luces son iguales. Entender estas tres variables te da el control total sobre tu look.</a:t>
            </a:r>
          </a:p>
        </p:txBody>
      </p:sp>
      <p:sp>
        <p:nvSpPr>
          <p:cNvPr id="10" name="Título 1"/>
          <p:cNvSpPr txBox="1">
            <a:spLocks/>
          </p:cNvSpPr>
          <p:nvPr/>
        </p:nvSpPr>
        <p:spPr>
          <a:xfrm>
            <a:off x="-3805452" y="2538485"/>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3" name="Rectangle 1"/>
          <p:cNvSpPr>
            <a:spLocks noChangeArrowheads="1"/>
          </p:cNvSpPr>
          <p:nvPr/>
        </p:nvSpPr>
        <p:spPr bwMode="auto">
          <a:xfrm>
            <a:off x="637463" y="1417935"/>
            <a:ext cx="57150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es-ES" altLang="es-ES" sz="1800" b="1" u="sng" strike="noStrike" cap="none" normalizeH="0" baseline="0" dirty="0" smtClean="0">
                <a:ln>
                  <a:noFill/>
                </a:ln>
                <a:solidFill>
                  <a:schemeClr val="tx1"/>
                </a:solidFill>
                <a:effectLst/>
              </a:rPr>
              <a:t>Posicionamiento y Efecto</a:t>
            </a:r>
            <a:r>
              <a:rPr kumimoji="0" lang="es-ES" altLang="es-ES" sz="1800" b="0" i="0" u="none" strike="noStrike" cap="none" normalizeH="0" baseline="0" dirty="0" smtClean="0">
                <a:ln>
                  <a:noFill/>
                </a:ln>
                <a:solidFill>
                  <a:schemeClr val="tx1"/>
                </a:solidFill>
                <a:effectLst/>
              </a:rPr>
              <a:t>:</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rPr>
              <a:t>Luz Frontal</a:t>
            </a:r>
            <a:r>
              <a:rPr kumimoji="0" lang="es-ES" altLang="es-ES" sz="1800" b="0" i="0" u="none" strike="noStrike" cap="none" normalizeH="0" baseline="0" dirty="0" smtClean="0">
                <a:ln>
                  <a:noFill/>
                </a:ln>
                <a:solidFill>
                  <a:schemeClr val="tx1"/>
                </a:solidFill>
                <a:effectLst/>
              </a:rPr>
              <a:t>: Apuntando directamente desde la cámara. Elimina todas las sombras, resultando en una imagen muy plana, sin volumen y poco interesante. A menudo usada en noticias de bajo presupuesto.</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rPr>
              <a:t>Luz Lateral</a:t>
            </a:r>
            <a:r>
              <a:rPr kumimoji="0" lang="es-ES" altLang="es-ES" sz="1800" b="0" i="0" u="none" strike="noStrike" cap="none" normalizeH="0" baseline="0" dirty="0" smtClean="0">
                <a:ln>
                  <a:noFill/>
                </a:ln>
                <a:solidFill>
                  <a:schemeClr val="tx1"/>
                </a:solidFill>
                <a:effectLst/>
              </a:rPr>
              <a:t>: Colocar la Key Light más de lado (ej. 70-90 grados) crea un contraste dramático, con un lado del rostro bien iluminado y el otro en sombra. Es un look muy cinematográfico (</a:t>
            </a:r>
            <a:r>
              <a:rPr kumimoji="0" lang="es-ES" altLang="es-ES" sz="1800" b="0" i="0" u="none" strike="noStrike" cap="none" normalizeH="0" baseline="0" dirty="0" err="1" smtClean="0">
                <a:ln>
                  <a:noFill/>
                </a:ln>
                <a:solidFill>
                  <a:schemeClr val="tx1"/>
                </a:solidFill>
                <a:effectLst/>
              </a:rPr>
              <a:t>onocido</a:t>
            </a:r>
            <a:r>
              <a:rPr kumimoji="0" lang="es-ES" altLang="es-ES" sz="1800" b="0" i="0" u="none" strike="noStrike" cap="none" normalizeH="0" baseline="0" dirty="0" smtClean="0">
                <a:ln>
                  <a:noFill/>
                </a:ln>
                <a:solidFill>
                  <a:schemeClr val="tx1"/>
                </a:solidFill>
                <a:effectLst/>
              </a:rPr>
              <a:t> como iluminación Rembrandt).</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rPr>
              <a:t>Luz Cenital (Top-</a:t>
            </a:r>
            <a:r>
              <a:rPr kumimoji="0" lang="es-ES" altLang="es-ES" sz="1800" b="1" i="0" u="none" strike="noStrike" cap="none" normalizeH="0" baseline="0" dirty="0" err="1" smtClean="0">
                <a:ln>
                  <a:noFill/>
                </a:ln>
                <a:solidFill>
                  <a:schemeClr val="tx1"/>
                </a:solidFill>
                <a:effectLst/>
              </a:rPr>
              <a:t>down</a:t>
            </a:r>
            <a:r>
              <a:rPr kumimoji="0" lang="es-ES" altLang="es-ES" sz="1800" b="1" i="0" u="none" strike="noStrike" cap="none" normalizeH="0" baseline="0" dirty="0" smtClean="0">
                <a:ln>
                  <a:noFill/>
                </a:ln>
                <a:solidFill>
                  <a:schemeClr val="tx1"/>
                </a:solidFill>
                <a:effectLst/>
              </a:rPr>
              <a:t>): </a:t>
            </a:r>
            <a:r>
              <a:rPr kumimoji="0" lang="es-ES" altLang="es-ES" sz="1800" b="0" i="0" u="none" strike="noStrike" cap="none" normalizeH="0" baseline="0" dirty="0" smtClean="0">
                <a:ln>
                  <a:noFill/>
                </a:ln>
                <a:solidFill>
                  <a:schemeClr val="tx1"/>
                </a:solidFill>
                <a:effectLst/>
              </a:rPr>
              <a:t>La luz viene directamente desde arriba. Es muy poco favorecedora, ya que crea sombras oscuras y profundas bajo los ojos y la nariz ("ojos de mapache"). A evitar a toda costa.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19455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a:solidFill>
                  <a:schemeClr val="bg2">
                    <a:lumMod val="75000"/>
                  </a:schemeClr>
                </a:solidFill>
              </a:rPr>
              <a:t>2</a:t>
            </a:r>
            <a:r>
              <a:rPr lang="es-ES" sz="2000" b="1" dirty="0" smtClean="0">
                <a:solidFill>
                  <a:schemeClr val="bg2">
                    <a:lumMod val="75000"/>
                  </a:schemeClr>
                </a:solidFill>
              </a:rPr>
              <a:t>. ILUMINACIÓN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4048" t="16912" b="8177"/>
          <a:stretch/>
        </p:blipFill>
        <p:spPr>
          <a:xfrm>
            <a:off x="6409265" y="1909046"/>
            <a:ext cx="4331018" cy="3381260"/>
          </a:xfrm>
        </p:spPr>
      </p:pic>
      <p:sp>
        <p:nvSpPr>
          <p:cNvPr id="5" name="Título 1"/>
          <p:cNvSpPr txBox="1">
            <a:spLocks/>
          </p:cNvSpPr>
          <p:nvPr/>
        </p:nvSpPr>
        <p:spPr>
          <a:xfrm>
            <a:off x="602775" y="982640"/>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9" name="Título 1"/>
          <p:cNvSpPr txBox="1">
            <a:spLocks/>
          </p:cNvSpPr>
          <p:nvPr/>
        </p:nvSpPr>
        <p:spPr>
          <a:xfrm>
            <a:off x="602775" y="88123"/>
            <a:ext cx="11354937" cy="13721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solidFill>
                  <a:schemeClr val="bg2">
                    <a:lumMod val="75000"/>
                  </a:schemeClr>
                </a:solidFill>
                <a:latin typeface="+mn-lt"/>
              </a:rPr>
              <a:t>2.2</a:t>
            </a:r>
            <a:r>
              <a:rPr lang="es-ES" sz="1800" b="1" dirty="0" smtClean="0">
                <a:solidFill>
                  <a:schemeClr val="bg2">
                    <a:lumMod val="75000"/>
                  </a:schemeClr>
                </a:solidFill>
                <a:latin typeface="+mn-lt"/>
              </a:rPr>
              <a:t>. ILUMINACIÓN – </a:t>
            </a:r>
            <a:r>
              <a:rPr lang="es-ES" sz="1800" b="1" dirty="0">
                <a:solidFill>
                  <a:schemeClr val="bg2">
                    <a:lumMod val="75000"/>
                  </a:schemeClr>
                </a:solidFill>
                <a:latin typeface="+mn-lt"/>
              </a:rPr>
              <a:t>Las Cualidades de la Luz: Posición, Distancia y </a:t>
            </a:r>
            <a:r>
              <a:rPr lang="es-ES" sz="1800" b="1" dirty="0" smtClean="0">
                <a:solidFill>
                  <a:schemeClr val="bg2">
                    <a:lumMod val="75000"/>
                  </a:schemeClr>
                </a:solidFill>
                <a:latin typeface="+mn-lt"/>
              </a:rPr>
              <a:t>Color.</a:t>
            </a:r>
            <a:endParaRPr lang="es-ES" sz="1800" b="1" dirty="0" smtClean="0">
              <a:solidFill>
                <a:schemeClr val="bg2">
                  <a:lumMod val="75000"/>
                </a:schemeClr>
              </a:solidFill>
              <a:latin typeface="+mn-lt"/>
            </a:endParaRPr>
          </a:p>
          <a:p>
            <a:endParaRPr lang="es-ES" sz="1800" b="1" dirty="0" smtClean="0">
              <a:latin typeface="+mn-lt"/>
            </a:endParaRPr>
          </a:p>
          <a:p>
            <a:endParaRPr lang="es-ES" sz="1800" dirty="0">
              <a:latin typeface="+mn-lt"/>
            </a:endParaRPr>
          </a:p>
        </p:txBody>
      </p:sp>
      <p:sp>
        <p:nvSpPr>
          <p:cNvPr id="10" name="Título 1"/>
          <p:cNvSpPr txBox="1">
            <a:spLocks/>
          </p:cNvSpPr>
          <p:nvPr/>
        </p:nvSpPr>
        <p:spPr>
          <a:xfrm>
            <a:off x="-3805452" y="2538485"/>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6" name="Rectangle 1"/>
          <p:cNvSpPr>
            <a:spLocks noChangeArrowheads="1"/>
          </p:cNvSpPr>
          <p:nvPr/>
        </p:nvSpPr>
        <p:spPr bwMode="auto">
          <a:xfrm>
            <a:off x="602775" y="1338495"/>
            <a:ext cx="516302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ES" altLang="es-ES" sz="1800" b="1" i="0" u="sng" strike="noStrike" cap="none" normalizeH="0" baseline="0" dirty="0" smtClean="0">
                <a:ln>
                  <a:noFill/>
                </a:ln>
                <a:solidFill>
                  <a:schemeClr val="tx1"/>
                </a:solidFill>
                <a:effectLst/>
              </a:rPr>
              <a:t>Distancia e Intensidad (La Ley del Cuadrado Inverso)</a:t>
            </a:r>
            <a:r>
              <a:rPr kumimoji="0" lang="es-ES" altLang="es-E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1800" b="0"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rPr>
              <a:t>El Concepto</a:t>
            </a:r>
            <a:r>
              <a:rPr kumimoji="0" lang="es-ES" altLang="es-ES" sz="1800" b="0" i="0" u="none" strike="noStrike" cap="none" normalizeH="0" baseline="0" dirty="0" smtClean="0">
                <a:ln>
                  <a:noFill/>
                </a:ln>
                <a:solidFill>
                  <a:schemeClr val="tx1"/>
                </a:solidFill>
                <a:effectLst/>
              </a:rPr>
              <a:t>: La </a:t>
            </a:r>
            <a:r>
              <a:rPr kumimoji="0" lang="es-ES" altLang="es-ES" sz="1800" b="0" i="0" u="none" strike="noStrike" cap="none" normalizeH="0" baseline="0" dirty="0" err="1" smtClean="0">
                <a:ln>
                  <a:noFill/>
                </a:ln>
                <a:solidFill>
                  <a:schemeClr val="tx1"/>
                </a:solidFill>
                <a:effectLst/>
              </a:rPr>
              <a:t>intenidad</a:t>
            </a:r>
            <a:r>
              <a:rPr kumimoji="0" lang="es-ES" altLang="es-ES" sz="1800" b="0" i="0" u="none" strike="noStrike" cap="none" normalizeH="0" baseline="0" dirty="0" smtClean="0">
                <a:ln>
                  <a:noFill/>
                </a:ln>
                <a:solidFill>
                  <a:schemeClr val="tx1"/>
                </a:solidFill>
                <a:effectLst/>
              </a:rPr>
              <a:t> de la luz disminuye drásticamente cuanto más la alejas. Pero lo más importante es que una fuente de luz más grande y más cercana es más suave y favorecedora. Una luz pequeña y lejana crea sombras duras y definidas.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s-ES" altLang="es-ES" sz="1800" b="0"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rPr>
              <a:t>Cómo Aplicarlo</a:t>
            </a:r>
            <a:r>
              <a:rPr kumimoji="0" lang="es-ES" altLang="es-ES" sz="1800" b="0" i="0" u="none" strike="noStrike" cap="none" normalizeH="0" baseline="0" dirty="0" smtClean="0">
                <a:ln>
                  <a:noFill/>
                </a:ln>
                <a:solidFill>
                  <a:schemeClr val="tx1"/>
                </a:solidFill>
                <a:effectLst/>
              </a:rPr>
              <a:t>: Para una luz principal suave y agradable (como la de una ventana), utiliza un foco con un "</a:t>
            </a:r>
            <a:r>
              <a:rPr kumimoji="0" lang="es-ES" altLang="es-ES" sz="1800" b="0" i="0" u="none" strike="noStrike" cap="none" normalizeH="0" baseline="0" dirty="0" err="1" smtClean="0">
                <a:ln>
                  <a:noFill/>
                </a:ln>
                <a:solidFill>
                  <a:schemeClr val="tx1"/>
                </a:solidFill>
                <a:effectLst/>
              </a:rPr>
              <a:t>softbox</a:t>
            </a:r>
            <a:r>
              <a:rPr kumimoji="0" lang="es-ES" altLang="es-ES" sz="1800" b="0" i="0" u="none" strike="noStrike" cap="none" normalizeH="0" baseline="0" dirty="0" smtClean="0">
                <a:ln>
                  <a:noFill/>
                </a:ln>
                <a:solidFill>
                  <a:schemeClr val="tx1"/>
                </a:solidFill>
                <a:effectLst/>
              </a:rPr>
              <a:t>" (difusor) y acércalo tanto como sea posible sin que entre en el plano. Esto envolverá tu rostro en luz de forma mucho más natural.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66135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0729" y="183655"/>
            <a:ext cx="2006222" cy="509525"/>
          </a:xfrm>
        </p:spPr>
        <p:txBody>
          <a:bodyPr>
            <a:normAutofit/>
          </a:bodyPr>
          <a:lstStyle/>
          <a:p>
            <a:r>
              <a:rPr lang="es-ES" sz="2000" b="1" dirty="0">
                <a:solidFill>
                  <a:schemeClr val="bg2">
                    <a:lumMod val="75000"/>
                  </a:schemeClr>
                </a:solidFill>
              </a:rPr>
              <a:t>2</a:t>
            </a:r>
            <a:r>
              <a:rPr lang="es-ES" sz="2000" b="1" dirty="0" smtClean="0">
                <a:solidFill>
                  <a:schemeClr val="bg2">
                    <a:lumMod val="75000"/>
                  </a:schemeClr>
                </a:solidFill>
              </a:rPr>
              <a:t>. ILUMINACIÓN</a:t>
            </a:r>
            <a:endParaRPr lang="es-ES" sz="1800" dirty="0">
              <a:solidFill>
                <a:schemeClr val="bg2">
                  <a:lumMod val="75000"/>
                </a:schemeClr>
              </a:solidFill>
            </a:endParaRPr>
          </a:p>
        </p:txBody>
      </p:sp>
      <p:pic>
        <p:nvPicPr>
          <p:cNvPr id="4" name="Marcador de contenido 3"/>
          <p:cNvPicPr>
            <a:picLocks noGrp="1" noChangeAspect="1"/>
          </p:cNvPicPr>
          <p:nvPr>
            <p:ph idx="1"/>
          </p:nvPr>
        </p:nvPicPr>
        <p:blipFill rotWithShape="1">
          <a:blip r:embed="rId2">
            <a:extLst>
              <a:ext uri="{28A0092B-C50C-407E-A947-70E740481C1C}">
                <a14:useLocalDpi xmlns:a14="http://schemas.microsoft.com/office/drawing/2010/main" val="0"/>
              </a:ext>
            </a:extLst>
          </a:blip>
          <a:srcRect l="3327" t="5139" r="3634" b="7722"/>
          <a:stretch/>
        </p:blipFill>
        <p:spPr>
          <a:xfrm>
            <a:off x="6228560" y="1473201"/>
            <a:ext cx="5731554" cy="4280216"/>
          </a:xfrm>
        </p:spPr>
      </p:pic>
      <p:sp>
        <p:nvSpPr>
          <p:cNvPr id="5" name="Título 1"/>
          <p:cNvSpPr txBox="1">
            <a:spLocks/>
          </p:cNvSpPr>
          <p:nvPr/>
        </p:nvSpPr>
        <p:spPr>
          <a:xfrm>
            <a:off x="602775" y="982640"/>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9" name="Título 1"/>
          <p:cNvSpPr txBox="1">
            <a:spLocks/>
          </p:cNvSpPr>
          <p:nvPr/>
        </p:nvSpPr>
        <p:spPr>
          <a:xfrm>
            <a:off x="602775" y="88123"/>
            <a:ext cx="11354937" cy="13721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800" b="1" dirty="0" smtClean="0">
                <a:solidFill>
                  <a:schemeClr val="bg2">
                    <a:lumMod val="75000"/>
                  </a:schemeClr>
                </a:solidFill>
                <a:latin typeface="+mn-lt"/>
              </a:rPr>
              <a:t>2.2</a:t>
            </a:r>
            <a:r>
              <a:rPr lang="es-ES" sz="1800" b="1" dirty="0" smtClean="0">
                <a:solidFill>
                  <a:schemeClr val="bg2">
                    <a:lumMod val="75000"/>
                  </a:schemeClr>
                </a:solidFill>
                <a:latin typeface="+mn-lt"/>
              </a:rPr>
              <a:t>. ILUMINACIÓN – </a:t>
            </a:r>
            <a:r>
              <a:rPr lang="es-ES" sz="1800" b="1" dirty="0">
                <a:solidFill>
                  <a:schemeClr val="bg2">
                    <a:lumMod val="75000"/>
                  </a:schemeClr>
                </a:solidFill>
                <a:latin typeface="+mn-lt"/>
              </a:rPr>
              <a:t>Las Cualidades de la Luz: Posición, Distancia y </a:t>
            </a:r>
            <a:r>
              <a:rPr lang="es-ES" sz="1800" b="1" dirty="0" smtClean="0">
                <a:solidFill>
                  <a:schemeClr val="bg2">
                    <a:lumMod val="75000"/>
                  </a:schemeClr>
                </a:solidFill>
                <a:latin typeface="+mn-lt"/>
              </a:rPr>
              <a:t>Color.</a:t>
            </a:r>
            <a:endParaRPr lang="es-ES" sz="1800" b="1" dirty="0" smtClean="0">
              <a:solidFill>
                <a:schemeClr val="bg2">
                  <a:lumMod val="75000"/>
                </a:schemeClr>
              </a:solidFill>
              <a:latin typeface="+mn-lt"/>
            </a:endParaRPr>
          </a:p>
          <a:p>
            <a:endParaRPr lang="es-ES" sz="1800" b="1" dirty="0" smtClean="0">
              <a:latin typeface="+mn-lt"/>
            </a:endParaRPr>
          </a:p>
          <a:p>
            <a:endParaRPr lang="es-ES" sz="1800" dirty="0">
              <a:latin typeface="+mn-lt"/>
            </a:endParaRPr>
          </a:p>
        </p:txBody>
      </p:sp>
      <p:sp>
        <p:nvSpPr>
          <p:cNvPr id="10" name="Título 1"/>
          <p:cNvSpPr txBox="1">
            <a:spLocks/>
          </p:cNvSpPr>
          <p:nvPr/>
        </p:nvSpPr>
        <p:spPr>
          <a:xfrm>
            <a:off x="-3805452" y="2538485"/>
            <a:ext cx="5784377" cy="51179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ES" dirty="0" smtClean="0"/>
          </a:p>
        </p:txBody>
      </p:sp>
      <p:sp>
        <p:nvSpPr>
          <p:cNvPr id="6" name="Rectangle 1"/>
          <p:cNvSpPr>
            <a:spLocks noChangeArrowheads="1"/>
          </p:cNvSpPr>
          <p:nvPr/>
        </p:nvSpPr>
        <p:spPr bwMode="auto">
          <a:xfrm>
            <a:off x="602775" y="3277487"/>
            <a:ext cx="51630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711898" y="919562"/>
            <a:ext cx="536717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ES" altLang="es-ES" sz="1800" b="1" i="0" u="sng" strike="noStrike" cap="none" normalizeH="0" baseline="0" dirty="0" smtClean="0">
                <a:ln>
                  <a:noFill/>
                </a:ln>
                <a:solidFill>
                  <a:schemeClr val="tx1"/>
                </a:solidFill>
                <a:effectLst/>
              </a:rPr>
              <a:t>Temperatura de Color (Grados Kelvin - K):</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1800" b="1" i="0" u="sng"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rPr>
              <a:t>El Concepto</a:t>
            </a:r>
            <a:r>
              <a:rPr kumimoji="0" lang="es-ES" altLang="es-ES" sz="1800" b="0" i="0" u="none" strike="noStrike" cap="none" normalizeH="0" baseline="0" dirty="0" smtClean="0">
                <a:ln>
                  <a:noFill/>
                </a:ln>
                <a:solidFill>
                  <a:schemeClr val="tx1"/>
                </a:solidFill>
                <a:effectLst/>
              </a:rPr>
              <a:t>: El color de la luz se mide en una </a:t>
            </a:r>
            <a:r>
              <a:rPr kumimoji="0" lang="es-ES" altLang="es-ES" sz="1800" b="0" i="0" u="none" strike="noStrike" cap="none" normalizeH="0" baseline="0" dirty="0" err="1" smtClean="0">
                <a:ln>
                  <a:noFill/>
                </a:ln>
                <a:solidFill>
                  <a:schemeClr val="tx1"/>
                </a:solidFill>
                <a:effectLst/>
              </a:rPr>
              <a:t>scala</a:t>
            </a:r>
            <a:r>
              <a:rPr kumimoji="0" lang="es-ES" altLang="es-ES" sz="1800" b="0" i="0" u="none" strike="noStrike" cap="none" normalizeH="0" baseline="0" dirty="0" smtClean="0">
                <a:ln>
                  <a:noFill/>
                </a:ln>
                <a:solidFill>
                  <a:schemeClr val="tx1"/>
                </a:solidFill>
                <a:effectLst/>
              </a:rPr>
              <a:t> Kelvin. Una luz "cálida" (más anaranjada, como una bombilla antigua o una vela) tiene un valor Kelvin bajo (~2700K). Una luz "fría" (más azulada, como la de un día nublado) tiene un valor Kelvin alto (~6500K). La luz diurna neutra está en torno a los 5500K.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s-ES" altLang="es-ES" sz="1800" b="0"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800" b="1" i="0" u="none" strike="noStrike" cap="none" normalizeH="0" baseline="0" dirty="0" smtClean="0">
                <a:ln>
                  <a:noFill/>
                </a:ln>
                <a:solidFill>
                  <a:schemeClr val="tx1"/>
                </a:solidFill>
                <a:effectLst/>
              </a:rPr>
              <a:t>Cómo Aplicarlo</a:t>
            </a:r>
            <a:r>
              <a:rPr kumimoji="0" lang="es-ES" altLang="es-ES" sz="1800" b="0" i="0" u="none" strike="noStrike" cap="none" normalizeH="0" baseline="0" dirty="0" smtClean="0">
                <a:ln>
                  <a:noFill/>
                </a:ln>
                <a:solidFill>
                  <a:schemeClr val="tx1"/>
                </a:solidFill>
                <a:effectLst/>
              </a:rPr>
              <a:t>: Tu iluminación debe coincidir con la iluminación de tu fondo virtual. Si tu set diseñado es un despacho cálido con maderas y una lámpara de ambiente, tus luces deben estar ajustadas a una temperatura cálida (~3200K). Si el fondo es una oficina moderna y minimalista con luz diurna entrando por un ventanal, tus luces deben ser frías y neutras (~5600K). Este es el secreto final para que la integración sea creíble.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72991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7701" y="116378"/>
            <a:ext cx="6125612" cy="6741622"/>
          </a:xfrm>
        </p:spPr>
        <p:txBody>
          <a:bodyPr>
            <a:normAutofit/>
          </a:bodyPr>
          <a:lstStyle/>
          <a:p>
            <a:r>
              <a:rPr lang="es-ES" sz="1800" b="1" u="sng" dirty="0" smtClean="0">
                <a:latin typeface="+mn-lt"/>
              </a:rPr>
              <a:t>LA PRÁCTICA HACE AL MAESTRO</a:t>
            </a:r>
            <a:br>
              <a:rPr lang="es-ES" sz="1800" b="1" u="sng" dirty="0" smtClean="0">
                <a:latin typeface="+mn-lt"/>
              </a:rPr>
            </a:br>
            <a:r>
              <a:rPr lang="es-ES" sz="1800" dirty="0">
                <a:latin typeface="+mn-lt"/>
              </a:rPr>
              <a:t/>
            </a:r>
            <a:br>
              <a:rPr lang="es-ES" sz="1800" dirty="0">
                <a:latin typeface="+mn-lt"/>
              </a:rPr>
            </a:br>
            <a:r>
              <a:rPr lang="es-ES" sz="1800" dirty="0">
                <a:latin typeface="+mn-lt"/>
              </a:rPr>
              <a:t>Ahora posees los conocimientos fundamentales que los profesionales utilizan todos los días. Te animamos a que experimentes. Mueve tus luces, cambia tu posición en el encuadre y observa cómo cada pequeño ajuste modifica por completo la sensación que transmite tu imagen</a:t>
            </a:r>
            <a:r>
              <a:rPr lang="es-ES" sz="1800" dirty="0" smtClean="0">
                <a:latin typeface="+mn-lt"/>
              </a:rPr>
              <a:t>.</a:t>
            </a:r>
            <a:br>
              <a:rPr lang="es-ES" sz="1800" dirty="0" smtClean="0">
                <a:latin typeface="+mn-lt"/>
              </a:rPr>
            </a:br>
            <a:r>
              <a:rPr lang="es-ES" sz="1800" dirty="0">
                <a:latin typeface="+mn-lt"/>
              </a:rPr>
              <a:t/>
            </a:r>
            <a:br>
              <a:rPr lang="es-ES" sz="1800" dirty="0">
                <a:latin typeface="+mn-lt"/>
              </a:rPr>
            </a:br>
            <a:r>
              <a:rPr lang="es-ES" sz="1800" dirty="0">
                <a:latin typeface="+mn-lt"/>
              </a:rPr>
              <a:t>Estos principios de composición e iluminación son la base sobre la que construiremos tu identidad visual. Son las herramientas que te permitirán fusionarte con el entorno virtual que diseñemos para ti, logrando un resultado final profesional, coherente e impactante.</a:t>
            </a:r>
            <a:br>
              <a:rPr lang="es-ES" sz="1800" dirty="0">
                <a:latin typeface="+mn-lt"/>
              </a:rPr>
            </a:br>
            <a:r>
              <a:rPr lang="es-ES" sz="1800" dirty="0">
                <a:latin typeface="+mn-lt"/>
              </a:rPr>
              <a:t>¿Listo/a para el Siguiente Nivel</a:t>
            </a:r>
            <a:r>
              <a:rPr lang="es-ES" sz="1800" dirty="0" smtClean="0">
                <a:latin typeface="+mn-lt"/>
              </a:rPr>
              <a:t>?</a:t>
            </a:r>
            <a:br>
              <a:rPr lang="es-ES" sz="1800" dirty="0" smtClean="0">
                <a:latin typeface="+mn-lt"/>
              </a:rPr>
            </a:br>
            <a:r>
              <a:rPr lang="es-ES" sz="1800" dirty="0">
                <a:latin typeface="+mn-lt"/>
              </a:rPr>
              <a:t/>
            </a:r>
            <a:br>
              <a:rPr lang="es-ES" sz="1800" dirty="0">
                <a:latin typeface="+mn-lt"/>
              </a:rPr>
            </a:br>
            <a:r>
              <a:rPr lang="es-ES" sz="1800" dirty="0">
                <a:latin typeface="+mn-lt"/>
              </a:rPr>
              <a:t>Cuando sientas que has interiorizado estos conceptos y estés listo/a para tener un entorno que no solo sea técnicamente </a:t>
            </a:r>
            <a:r>
              <a:rPr lang="es-ES" sz="1800" dirty="0" smtClean="0">
                <a:latin typeface="+mn-lt"/>
              </a:rPr>
              <a:t>consistente, </a:t>
            </a:r>
            <a:r>
              <a:rPr lang="es-ES" sz="1800" dirty="0">
                <a:latin typeface="+mn-lt"/>
              </a:rPr>
              <a:t>sino que cuente tu historia y represente tu marca al más alto nivel, el siguiente paso es nuestro paquete "El Set a Medida".</a:t>
            </a:r>
            <a:br>
              <a:rPr lang="es-ES" sz="1800" dirty="0">
                <a:latin typeface="+mn-lt"/>
              </a:rPr>
            </a:br>
            <a:r>
              <a:rPr lang="es-ES" sz="1800" dirty="0">
                <a:latin typeface="+mn-lt"/>
              </a:rPr>
              <a:t>Ponte en contacto con nosotros y empecemos a diseñar tu espacio</a:t>
            </a:r>
            <a:r>
              <a:rPr lang="es-ES" sz="1800" dirty="0" smtClean="0">
                <a:latin typeface="+mn-lt"/>
              </a:rPr>
              <a:t>.</a:t>
            </a:r>
            <a:br>
              <a:rPr lang="es-ES" sz="1800" dirty="0" smtClean="0">
                <a:latin typeface="+mn-lt"/>
              </a:rPr>
            </a:br>
            <a:r>
              <a:rPr lang="es-ES" sz="1800" dirty="0">
                <a:latin typeface="+mn-lt"/>
              </a:rPr>
              <a:t/>
            </a:r>
            <a:br>
              <a:rPr lang="es-ES" sz="1800" dirty="0">
                <a:latin typeface="+mn-lt"/>
              </a:rPr>
            </a:br>
            <a:r>
              <a:rPr lang="es-ES" sz="1800" dirty="0">
                <a:latin typeface="+mn-lt"/>
              </a:rPr>
              <a:t>Carlos Díaz</a:t>
            </a:r>
            <a:br>
              <a:rPr lang="es-ES" sz="1800" dirty="0">
                <a:latin typeface="+mn-lt"/>
              </a:rPr>
            </a:br>
            <a:r>
              <a:rPr lang="es-ES" sz="1000" dirty="0">
                <a:latin typeface="+mn-lt"/>
              </a:rPr>
              <a:t>Fundador, </a:t>
            </a:r>
            <a:r>
              <a:rPr lang="es-ES" sz="1000" dirty="0" err="1">
                <a:latin typeface="+mn-lt"/>
              </a:rPr>
              <a:t>Mamba</a:t>
            </a:r>
            <a:r>
              <a:rPr lang="es-ES" sz="1000" dirty="0">
                <a:latin typeface="+mn-lt"/>
              </a:rPr>
              <a:t> </a:t>
            </a:r>
            <a:r>
              <a:rPr lang="es-ES" sz="1000" dirty="0" err="1">
                <a:latin typeface="+mn-lt"/>
              </a:rPr>
              <a:t>Archviz</a:t>
            </a:r>
            <a:r>
              <a:rPr lang="es-ES" sz="1000" dirty="0">
                <a:latin typeface="+mn-lt"/>
              </a:rPr>
              <a:t/>
            </a:r>
            <a:br>
              <a:rPr lang="es-ES" sz="1000" dirty="0">
                <a:latin typeface="+mn-lt"/>
              </a:rPr>
            </a:br>
            <a:r>
              <a:rPr lang="es-ES" sz="1000" dirty="0">
                <a:latin typeface="+mn-lt"/>
                <a:hlinkClick r:id="rId2"/>
              </a:rPr>
              <a:t>www.mambaarchviz.com</a:t>
            </a:r>
            <a:endParaRPr lang="es-ES" sz="1000" dirty="0">
              <a:latin typeface="+mn-lt"/>
            </a:endParaRPr>
          </a:p>
        </p:txBody>
      </p:sp>
      <p:pic>
        <p:nvPicPr>
          <p:cNvPr id="4" name="Marcador de contenido 3"/>
          <p:cNvPicPr>
            <a:picLocks noGrp="1" noChangeAspect="1"/>
          </p:cNvPicPr>
          <p:nvPr>
            <p:ph idx="1"/>
          </p:nvPr>
        </p:nvPicPr>
        <p:blipFill rotWithShape="1">
          <a:blip r:embed="rId3">
            <a:extLst>
              <a:ext uri="{28A0092B-C50C-407E-A947-70E740481C1C}">
                <a14:useLocalDpi xmlns:a14="http://schemas.microsoft.com/office/drawing/2010/main" val="0"/>
              </a:ext>
            </a:extLst>
          </a:blip>
          <a:srcRect l="1951" t="10921" r="2498" b="4914"/>
          <a:stretch/>
        </p:blipFill>
        <p:spPr>
          <a:xfrm>
            <a:off x="6700057" y="1129530"/>
            <a:ext cx="5308116" cy="4779819"/>
          </a:xfrm>
        </p:spPr>
      </p:pic>
    </p:spTree>
    <p:extLst>
      <p:ext uri="{BB962C8B-B14F-4D97-AF65-F5344CB8AC3E}">
        <p14:creationId xmlns:p14="http://schemas.microsoft.com/office/powerpoint/2010/main" val="173817873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1509</Words>
  <Application>Microsoft Office PowerPoint</Application>
  <PresentationFormat>Panorámica</PresentationFormat>
  <Paragraphs>106</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Arial Unicode MS</vt:lpstr>
      <vt:lpstr>Calibri</vt:lpstr>
      <vt:lpstr>Calibri Light</vt:lpstr>
      <vt:lpstr>Tema de Office</vt:lpstr>
      <vt:lpstr>Guía Esencial de Iluminación y Composición</vt:lpstr>
      <vt:lpstr>Bienvenido/a,  En Mamba Archviz, creemos que tu entorno virtual es mucho más que un simple fondo; es el escenario donde tu marca personal y tu autoridad profesional cobran vida. Has invertido en crear contenido de gran valor, y esta guía está diseñada para darte las herramientas y el conocimiento para que tu calidad visual esté a la misma altura.  Dominar los fundamentos de la composición y la iluminación es lo que separa una imagen amateur de una profesional. Son los dos pilares que conseguirán que te integres de forma realista en tu futuro set virtual y que captures la atención de tu audiencia desde el primer segundo.  En las siguientes páginas, desglosaremos estos conceptos de una forma clara y aplicable. No necesitas ser un director de fotografía para lograr resultados excelentes. Solo necesitas entender las reglas del juego.  Empecemos a construir tu presencia visual.</vt:lpstr>
      <vt:lpstr>1. COMPOSICIÓN</vt:lpstr>
      <vt:lpstr>1. COMPOSICIÓN</vt:lpstr>
      <vt:lpstr>1. COMPOSICIÓN</vt:lpstr>
      <vt:lpstr>1. COMPOSICIÓN</vt:lpstr>
      <vt:lpstr>1. COMPOSICIÓN</vt:lpstr>
      <vt:lpstr>1. COMPOSICIÓN</vt:lpstr>
      <vt:lpstr>2. ILUMINACIÓN</vt:lpstr>
      <vt:lpstr>2. ILUMINACIÓN</vt:lpstr>
      <vt:lpstr>2. ILUMINACIÓN</vt:lpstr>
      <vt:lpstr>2. ILUMINACIÓN</vt:lpstr>
      <vt:lpstr>LA PRÁCTICA HACE AL MAESTRO  Ahora posees los conocimientos fundamentales que los profesionales utilizan todos los días. Te animamos a que experimentes. Mueve tus luces, cambia tu posición en el encuadre y observa cómo cada pequeño ajuste modifica por completo la sensación que transmite tu imagen.  Estos principios de composición e iluminación son la base sobre la que construiremos tu identidad visual. Son las herramientas que te permitirán fusionarte con el entorno virtual que diseñemos para ti, logrando un resultado final profesional, coherente e impactante. ¿Listo/a para el Siguiente Nivel?  Cuando sientas que has interiorizado estos conceptos y estés listo/a para tener un entorno que no solo sea técnicamente consistente, sino que cuente tu historia y represente tu marca al más alto nivel, el siguiente paso es nuestro paquete "El Set a Medida". Ponte en contacto con nosotros y empecemos a diseñar tu espacio.  Carlos Díaz Fundador, Mamba Archviz www.mambaarchviz.com</vt:lpstr>
    </vt:vector>
  </TitlesOfParts>
  <Company>Dixguel03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Guía Esencial de Iluminación y Composición</dc:title>
  <dc:creator>PC</dc:creator>
  <cp:lastModifiedBy>PC</cp:lastModifiedBy>
  <cp:revision>15</cp:revision>
  <cp:lastPrinted>2025-07-15T08:55:50Z</cp:lastPrinted>
  <dcterms:created xsi:type="dcterms:W3CDTF">2025-07-14T13:33:31Z</dcterms:created>
  <dcterms:modified xsi:type="dcterms:W3CDTF">2025-07-15T08:55:53Z</dcterms:modified>
</cp:coreProperties>
</file>